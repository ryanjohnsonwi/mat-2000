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png" ContentType="image/pn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9011900" cy="10693400"/>
  <p:notesSz cx="190119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59117" y="143510"/>
            <a:ext cx="3300015" cy="649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52737" y="5988304"/>
            <a:ext cx="1331277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6"/>
            <a:ext cx="19011900" cy="10687050"/>
          </a:xfrm>
          <a:custGeom>
            <a:avLst/>
            <a:gdLst/>
            <a:ahLst/>
            <a:cxnLst/>
            <a:rect l="l" t="t" r="r" b="b"/>
            <a:pathLst>
              <a:path w="19011900" h="10687050">
                <a:moveTo>
                  <a:pt x="19011898" y="10687049"/>
                </a:moveTo>
                <a:lnTo>
                  <a:pt x="0" y="10687049"/>
                </a:lnTo>
                <a:lnTo>
                  <a:pt x="0" y="0"/>
                </a:lnTo>
                <a:lnTo>
                  <a:pt x="19011898" y="0"/>
                </a:lnTo>
                <a:lnTo>
                  <a:pt x="19011898" y="10687049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3524237" y="1904999"/>
            <a:ext cx="11963400" cy="9525"/>
          </a:xfrm>
          <a:custGeom>
            <a:avLst/>
            <a:gdLst/>
            <a:ahLst/>
            <a:cxnLst/>
            <a:rect l="l" t="t" r="r" b="b"/>
            <a:pathLst>
              <a:path w="11963400" h="9525">
                <a:moveTo>
                  <a:pt x="11963400" y="0"/>
                </a:moveTo>
                <a:lnTo>
                  <a:pt x="5638800" y="0"/>
                </a:lnTo>
                <a:lnTo>
                  <a:pt x="0" y="0"/>
                </a:lnTo>
                <a:lnTo>
                  <a:pt x="0" y="9525"/>
                </a:lnTo>
                <a:lnTo>
                  <a:pt x="5638800" y="9525"/>
                </a:lnTo>
                <a:lnTo>
                  <a:pt x="11963400" y="9525"/>
                </a:lnTo>
                <a:lnTo>
                  <a:pt x="11963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524237" y="2600324"/>
            <a:ext cx="11963400" cy="9525"/>
          </a:xfrm>
          <a:custGeom>
            <a:avLst/>
            <a:gdLst/>
            <a:ahLst/>
            <a:cxnLst/>
            <a:rect l="l" t="t" r="r" b="b"/>
            <a:pathLst>
              <a:path w="11963400" h="9525">
                <a:moveTo>
                  <a:pt x="11963400" y="0"/>
                </a:moveTo>
                <a:lnTo>
                  <a:pt x="5638800" y="0"/>
                </a:lnTo>
                <a:lnTo>
                  <a:pt x="0" y="0"/>
                </a:lnTo>
                <a:lnTo>
                  <a:pt x="0" y="9525"/>
                </a:lnTo>
                <a:lnTo>
                  <a:pt x="5638800" y="9525"/>
                </a:lnTo>
                <a:lnTo>
                  <a:pt x="11963400" y="9525"/>
                </a:lnTo>
                <a:lnTo>
                  <a:pt x="11963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50912" y="2459482"/>
            <a:ext cx="82729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794398" y="2459482"/>
            <a:ext cx="82729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5"/>
            <a:ext cx="19011900" cy="10687050"/>
          </a:xfrm>
          <a:custGeom>
            <a:avLst/>
            <a:gdLst/>
            <a:ahLst/>
            <a:cxnLst/>
            <a:rect l="l" t="t" r="r" b="b"/>
            <a:pathLst>
              <a:path w="19011900" h="10687050">
                <a:moveTo>
                  <a:pt x="19011898" y="10687049"/>
                </a:moveTo>
                <a:lnTo>
                  <a:pt x="0" y="10687049"/>
                </a:lnTo>
                <a:lnTo>
                  <a:pt x="0" y="0"/>
                </a:lnTo>
                <a:lnTo>
                  <a:pt x="19011898" y="0"/>
                </a:lnTo>
                <a:lnTo>
                  <a:pt x="19011898" y="10687049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9249" y="92075"/>
            <a:ext cx="18053050" cy="2929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Source Sans 3"/>
                <a:cs typeface="Source Sans 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84847" y="3111500"/>
            <a:ext cx="13042265" cy="2425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466205" y="9944862"/>
            <a:ext cx="608584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50912" y="9944862"/>
            <a:ext cx="4374197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693141" y="9944862"/>
            <a:ext cx="4374197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loc.gov/exhibits/gettysburg-address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static-content.zybooks.com/applets/2021/sampling/OneSample.html?population=gettysburg&amp;hideExtras=1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3028949"/>
            <a:ext cx="19011900" cy="7658100"/>
          </a:xfrm>
          <a:custGeom>
            <a:avLst/>
            <a:gdLst/>
            <a:ahLst/>
            <a:cxnLst/>
            <a:rect l="l" t="t" r="r" b="b"/>
            <a:pathLst>
              <a:path w="19011900" h="7658100">
                <a:moveTo>
                  <a:pt x="19011898" y="7658099"/>
                </a:moveTo>
                <a:lnTo>
                  <a:pt x="0" y="7658099"/>
                </a:lnTo>
                <a:lnTo>
                  <a:pt x="0" y="0"/>
                </a:lnTo>
                <a:lnTo>
                  <a:pt x="19011898" y="0"/>
                </a:lnTo>
                <a:lnTo>
                  <a:pt x="19011898" y="7658099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84847" y="3111500"/>
            <a:ext cx="13042265" cy="24257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02690" marR="5080" indent="-1190625">
              <a:lnSpc>
                <a:spcPct val="100299"/>
              </a:lnSpc>
              <a:spcBef>
                <a:spcPts val="95"/>
              </a:spcBef>
            </a:pPr>
            <a:r>
              <a:rPr dirty="0" sz="7850" b="1">
                <a:latin typeface="Source Sans 3 Semibold"/>
                <a:cs typeface="Source Sans 3 Semibold"/>
              </a:rPr>
              <a:t>3-2</a:t>
            </a:r>
            <a:r>
              <a:rPr dirty="0" sz="7850" spc="15" b="1">
                <a:latin typeface="Source Sans 3 Semibold"/>
                <a:cs typeface="Source Sans 3 Semibold"/>
              </a:rPr>
              <a:t> </a:t>
            </a:r>
            <a:r>
              <a:rPr dirty="0" sz="7850" b="1">
                <a:latin typeface="Source Sans 3 Semibold"/>
                <a:cs typeface="Source Sans 3 Semibold"/>
              </a:rPr>
              <a:t>:</a:t>
            </a:r>
            <a:r>
              <a:rPr dirty="0" sz="7850" spc="25" b="1">
                <a:latin typeface="Source Sans 3 Semibold"/>
                <a:cs typeface="Source Sans 3 Semibold"/>
              </a:rPr>
              <a:t> </a:t>
            </a:r>
            <a:r>
              <a:rPr dirty="0" sz="7850" b="1">
                <a:latin typeface="Source Sans 3 Semibold"/>
                <a:cs typeface="Source Sans 3 Semibold"/>
              </a:rPr>
              <a:t>INFERENCE</a:t>
            </a:r>
            <a:r>
              <a:rPr dirty="0" sz="7850" spc="20" b="1">
                <a:latin typeface="Source Sans 3 Semibold"/>
                <a:cs typeface="Source Sans 3 Semibold"/>
              </a:rPr>
              <a:t> </a:t>
            </a:r>
            <a:r>
              <a:rPr dirty="0" sz="7850" b="1">
                <a:latin typeface="Source Sans 3 Semibold"/>
                <a:cs typeface="Source Sans 3 Semibold"/>
              </a:rPr>
              <a:t>FOR</a:t>
            </a:r>
            <a:r>
              <a:rPr dirty="0" sz="7850" spc="25" b="1">
                <a:latin typeface="Source Sans 3 Semibold"/>
                <a:cs typeface="Source Sans 3 Semibold"/>
              </a:rPr>
              <a:t> </a:t>
            </a:r>
            <a:r>
              <a:rPr dirty="0" sz="7850" b="1">
                <a:latin typeface="Source Sans 3 Semibold"/>
                <a:cs typeface="Source Sans 3 Semibold"/>
              </a:rPr>
              <a:t>A</a:t>
            </a:r>
            <a:r>
              <a:rPr dirty="0" sz="7850" spc="25" b="1">
                <a:latin typeface="Source Sans 3 Semibold"/>
                <a:cs typeface="Source Sans 3 Semibold"/>
              </a:rPr>
              <a:t> </a:t>
            </a:r>
            <a:r>
              <a:rPr dirty="0" sz="7850" spc="-10" b="1">
                <a:latin typeface="Source Sans 3 Semibold"/>
                <a:cs typeface="Source Sans 3 Semibold"/>
              </a:rPr>
              <a:t>SINGL</a:t>
            </a:r>
            <a:r>
              <a:rPr dirty="0" sz="7850" spc="-10" b="1">
                <a:latin typeface="Source Sans 3 Semibold"/>
                <a:cs typeface="Source Sans 3 Semibold"/>
              </a:rPr>
              <a:t>E</a:t>
            </a:r>
            <a:r>
              <a:rPr dirty="0" sz="7850" spc="-10" b="1">
                <a:latin typeface="Source Sans 3 Semibold"/>
                <a:cs typeface="Source Sans 3 Semibold"/>
              </a:rPr>
              <a:t> </a:t>
            </a:r>
            <a:r>
              <a:rPr dirty="0" sz="7850" spc="-35" b="1">
                <a:latin typeface="Source Sans 3 Semibold"/>
                <a:cs typeface="Source Sans 3 Semibold"/>
              </a:rPr>
              <a:t>QUANTITATIVE</a:t>
            </a:r>
            <a:r>
              <a:rPr dirty="0" sz="7850" spc="-300" b="1">
                <a:latin typeface="Source Sans 3 Semibold"/>
                <a:cs typeface="Source Sans 3 Semibold"/>
              </a:rPr>
              <a:t> </a:t>
            </a:r>
            <a:r>
              <a:rPr dirty="0" sz="7850" spc="-10" b="1">
                <a:latin typeface="Source Sans 3 Semibold"/>
                <a:cs typeface="Source Sans 3 Semibold"/>
              </a:rPr>
              <a:t>VARIABLE</a:t>
            </a:r>
            <a:endParaRPr sz="7850">
              <a:latin typeface="Source Sans 3 Semibold"/>
              <a:cs typeface="Source Sans 3 Semibold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22005" y="5394796"/>
            <a:ext cx="11367770" cy="2499360"/>
          </a:xfrm>
          <a:prstGeom prst="rect">
            <a:avLst/>
          </a:prstGeom>
        </p:spPr>
        <p:txBody>
          <a:bodyPr wrap="square" lIns="0" tIns="3613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45"/>
              </a:spcBef>
            </a:pPr>
            <a:r>
              <a:rPr dirty="0" sz="5000" b="1">
                <a:solidFill>
                  <a:srgbClr val="FFFFFF"/>
                </a:solidFill>
                <a:latin typeface="Source Sans 3 Semibold"/>
                <a:cs typeface="Source Sans 3 Semibold"/>
              </a:rPr>
              <a:t>MAT</a:t>
            </a:r>
            <a:r>
              <a:rPr dirty="0" sz="5000" spc="-7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5000" b="1">
                <a:solidFill>
                  <a:srgbClr val="FFFFFF"/>
                </a:solidFill>
                <a:latin typeface="Source Sans 3 Semibold"/>
                <a:cs typeface="Source Sans 3 Semibold"/>
              </a:rPr>
              <a:t>2100:</a:t>
            </a:r>
            <a:r>
              <a:rPr dirty="0" sz="5000" spc="-7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5000" b="1">
                <a:solidFill>
                  <a:srgbClr val="FFFFFF"/>
                </a:solidFill>
                <a:latin typeface="Source Sans 3 Semibold"/>
                <a:cs typeface="Source Sans 3 Semibold"/>
              </a:rPr>
              <a:t>INTRODUCTION</a:t>
            </a:r>
            <a:r>
              <a:rPr dirty="0" sz="5000" spc="-65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5000" b="1">
                <a:solidFill>
                  <a:srgbClr val="FFFFFF"/>
                </a:solidFill>
                <a:latin typeface="Source Sans 3 Semibold"/>
                <a:cs typeface="Source Sans 3 Semibold"/>
              </a:rPr>
              <a:t>TO</a:t>
            </a:r>
            <a:r>
              <a:rPr dirty="0" sz="5000" spc="-7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5000" spc="-10" b="1">
                <a:solidFill>
                  <a:srgbClr val="FFFFFF"/>
                </a:solidFill>
                <a:latin typeface="Source Sans 3 Semibold"/>
                <a:cs typeface="Source Sans 3 Semibold"/>
              </a:rPr>
              <a:t>STATISTICS</a:t>
            </a:r>
            <a:endParaRPr sz="5000">
              <a:latin typeface="Source Sans 3 Semibold"/>
              <a:cs typeface="Source Sans 3 Semibold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dirty="0" sz="3150" b="1">
                <a:solidFill>
                  <a:srgbClr val="FFFFFF"/>
                </a:solidFill>
                <a:latin typeface="Source Sans 3 Semibold"/>
                <a:cs typeface="Source Sans 3 Semibold"/>
              </a:rPr>
              <a:t>GRACE</a:t>
            </a:r>
            <a:r>
              <a:rPr dirty="0" sz="3150" spc="-114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3150" spc="-10" b="1">
                <a:solidFill>
                  <a:srgbClr val="FFFFFF"/>
                </a:solidFill>
                <a:latin typeface="Source Sans 3 Semibold"/>
                <a:cs typeface="Source Sans 3 Semibold"/>
              </a:rPr>
              <a:t>COLLEGE</a:t>
            </a:r>
            <a:endParaRPr sz="3150">
              <a:latin typeface="Source Sans 3 Semibold"/>
              <a:cs typeface="Source Sans 3 Semibold"/>
            </a:endParaRPr>
          </a:p>
          <a:p>
            <a:pPr algn="ctr">
              <a:lnSpc>
                <a:spcPct val="100000"/>
              </a:lnSpc>
              <a:spcBef>
                <a:spcPts val="1470"/>
              </a:spcBef>
            </a:pPr>
            <a:r>
              <a:rPr dirty="0" sz="3150" b="1">
                <a:solidFill>
                  <a:srgbClr val="FFFFFF"/>
                </a:solidFill>
                <a:latin typeface="Source Sans 3 Semibold"/>
                <a:cs typeface="Source Sans 3 Semibold"/>
              </a:rPr>
              <a:t>LAST</a:t>
            </a:r>
            <a:r>
              <a:rPr dirty="0" sz="3150" spc="-65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3150" spc="-20" b="1">
                <a:solidFill>
                  <a:srgbClr val="FFFFFF"/>
                </a:solidFill>
                <a:latin typeface="Source Sans 3 Semibold"/>
                <a:cs typeface="Source Sans 3 Semibold"/>
              </a:rPr>
              <a:t>UPDATED</a:t>
            </a:r>
            <a:r>
              <a:rPr dirty="0" sz="3150" spc="-6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3150" b="1">
                <a:solidFill>
                  <a:srgbClr val="FFFFFF"/>
                </a:solidFill>
                <a:latin typeface="Source Sans 3 Semibold"/>
                <a:cs typeface="Source Sans 3 Semibold"/>
              </a:rPr>
              <a:t>SEPTEMBER</a:t>
            </a:r>
            <a:r>
              <a:rPr dirty="0" sz="3150" spc="-65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3150" b="1">
                <a:solidFill>
                  <a:srgbClr val="FFFFFF"/>
                </a:solidFill>
                <a:latin typeface="Source Sans 3 Semibold"/>
                <a:cs typeface="Source Sans 3 Semibold"/>
              </a:rPr>
              <a:t>7,</a:t>
            </a:r>
            <a:r>
              <a:rPr dirty="0" sz="3150" spc="-6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3150" spc="-20" b="1">
                <a:solidFill>
                  <a:srgbClr val="FFFFFF"/>
                </a:solidFill>
                <a:latin typeface="Source Sans 3 Semibold"/>
                <a:cs typeface="Source Sans 3 Semibold"/>
              </a:rPr>
              <a:t>2023</a:t>
            </a:r>
            <a:endParaRPr sz="3150">
              <a:latin typeface="Source Sans 3 Semibold"/>
              <a:cs typeface="Source Sans 3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9011900" cy="3028950"/>
          </a:xfrm>
          <a:custGeom>
            <a:avLst/>
            <a:gdLst/>
            <a:ahLst/>
            <a:cxnLst/>
            <a:rect l="l" t="t" r="r" b="b"/>
            <a:pathLst>
              <a:path w="19011900" h="3028950">
                <a:moveTo>
                  <a:pt x="19011898" y="3028949"/>
                </a:moveTo>
                <a:lnTo>
                  <a:pt x="0" y="3028949"/>
                </a:lnTo>
                <a:lnTo>
                  <a:pt x="0" y="0"/>
                </a:lnTo>
                <a:lnTo>
                  <a:pt x="19011898" y="0"/>
                </a:lnTo>
                <a:lnTo>
                  <a:pt x="19011898" y="3028949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9249" y="-61087"/>
            <a:ext cx="12804140" cy="4283075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marL="7129145">
              <a:lnSpc>
                <a:spcPct val="100000"/>
              </a:lnSpc>
              <a:spcBef>
                <a:spcPts val="1705"/>
              </a:spcBef>
            </a:pPr>
            <a:r>
              <a:rPr dirty="0" sz="4100" b="1">
                <a:solidFill>
                  <a:srgbClr val="FFFFFF"/>
                </a:solidFill>
                <a:latin typeface="Source Sans 3 Semibold"/>
                <a:cs typeface="Source Sans 3 Semibold"/>
              </a:rPr>
              <a:t>THE</a:t>
            </a:r>
            <a:r>
              <a:rPr dirty="0" sz="4100" spc="-65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4100" b="1">
                <a:solidFill>
                  <a:srgbClr val="FFFFFF"/>
                </a:solidFill>
                <a:latin typeface="Source Sans 3 Semibold"/>
                <a:cs typeface="Source Sans 3 Semibold"/>
              </a:rPr>
              <a:t>JESUS</a:t>
            </a:r>
            <a:r>
              <a:rPr dirty="0" sz="4100" spc="-6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4100" spc="-10" b="1">
                <a:solidFill>
                  <a:srgbClr val="FFFFFF"/>
                </a:solidFill>
                <a:latin typeface="Source Sans 3 Semibold"/>
                <a:cs typeface="Source Sans 3 Semibold"/>
              </a:rPr>
              <a:t>CREED</a:t>
            </a:r>
            <a:endParaRPr sz="4100">
              <a:latin typeface="Source Sans 3 Semibold"/>
              <a:cs typeface="Source Sans 3 Semibold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4100" spc="-35">
                <a:solidFill>
                  <a:srgbClr val="FFFFFF"/>
                </a:solidFill>
                <a:latin typeface="Source Sans 3"/>
                <a:cs typeface="Source Sans 3"/>
              </a:rPr>
              <a:t>Hear,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Israel: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Lord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our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God,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Lord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one.</a:t>
            </a:r>
            <a:endParaRPr sz="4100">
              <a:latin typeface="Source Sans 3"/>
              <a:cs typeface="Source Sans 3"/>
            </a:endParaRPr>
          </a:p>
          <a:p>
            <a:pPr marL="12700" marR="5080">
              <a:lnSpc>
                <a:spcPct val="138700"/>
              </a:lnSpc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Love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Lord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your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God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with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all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your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heart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with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all</a:t>
            </a:r>
            <a:r>
              <a:rPr dirty="0" sz="4100" spc="102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your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soul</a:t>
            </a:r>
            <a:r>
              <a:rPr dirty="0" sz="410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with</a:t>
            </a:r>
            <a:r>
              <a:rPr dirty="0" sz="410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all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your</a:t>
            </a:r>
            <a:r>
              <a:rPr dirty="0" sz="410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mind</a:t>
            </a:r>
            <a:r>
              <a:rPr dirty="0" sz="410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with</a:t>
            </a:r>
            <a:r>
              <a:rPr dirty="0" sz="410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all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your</a:t>
            </a:r>
            <a:r>
              <a:rPr dirty="0" sz="410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strength.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second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this: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Love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your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neighbor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as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yourself.</a:t>
            </a:r>
            <a:endParaRPr sz="4100">
              <a:latin typeface="Source Sans 3"/>
              <a:cs typeface="Source Sans 3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463925">
              <a:lnSpc>
                <a:spcPct val="100000"/>
              </a:lnSpc>
              <a:spcBef>
                <a:spcPts val="125"/>
              </a:spcBef>
            </a:pPr>
            <a:r>
              <a:rPr dirty="0" sz="7850" b="1">
                <a:latin typeface="Source Sans 3 Semibold"/>
                <a:cs typeface="Source Sans 3 Semibold"/>
              </a:rPr>
              <a:t>SAMPLING</a:t>
            </a:r>
            <a:r>
              <a:rPr dirty="0" sz="7850" spc="15" b="1">
                <a:latin typeface="Source Sans 3 Semibold"/>
                <a:cs typeface="Source Sans 3 Semibold"/>
              </a:rPr>
              <a:t> </a:t>
            </a:r>
            <a:r>
              <a:rPr dirty="0" sz="7850" b="1">
                <a:latin typeface="Source Sans 3 Semibold"/>
                <a:cs typeface="Source Sans 3 Semibold"/>
              </a:rPr>
              <a:t>WORDS</a:t>
            </a:r>
            <a:r>
              <a:rPr dirty="0" sz="7850" spc="20" b="1">
                <a:latin typeface="Source Sans 3 Semibold"/>
                <a:cs typeface="Source Sans 3 Semibold"/>
              </a:rPr>
              <a:t> </a:t>
            </a:r>
            <a:r>
              <a:rPr dirty="0" sz="7850" spc="55" b="1">
                <a:latin typeface="Source Sans 3 Semibold"/>
                <a:cs typeface="Source Sans 3 Semibold"/>
              </a:rPr>
              <a:t>(</a:t>
            </a:r>
            <a:r>
              <a:rPr dirty="0" sz="7850" spc="-210" b="1">
                <a:latin typeface="Source Sans 3 Semibold"/>
                <a:cs typeface="Source Sans 3 Semibold"/>
              </a:rPr>
              <a:t>C</a:t>
            </a:r>
            <a:r>
              <a:rPr dirty="0" sz="7850" spc="55" b="1">
                <a:latin typeface="Source Sans 3 Semibold"/>
                <a:cs typeface="Source Sans 3 Semibold"/>
              </a:rPr>
              <a:t>ON</a:t>
            </a:r>
            <a:r>
              <a:rPr dirty="0" sz="7850" spc="-819" b="1">
                <a:latin typeface="Source Sans 3 Semibold"/>
                <a:cs typeface="Source Sans 3 Semibold"/>
              </a:rPr>
              <a:t>T</a:t>
            </a:r>
            <a:r>
              <a:rPr dirty="0" sz="7850" spc="55" b="1">
                <a:latin typeface="Source Sans 3 Semibold"/>
                <a:cs typeface="Source Sans 3 Semibold"/>
              </a:rPr>
              <a:t>.)</a:t>
            </a:r>
            <a:endParaRPr sz="7850">
              <a:latin typeface="Source Sans 3 Semibold"/>
              <a:cs typeface="Source Sans 3 Semibold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249" y="319912"/>
            <a:ext cx="17792700" cy="2044700"/>
          </a:xfrm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algn="just" marL="12700" marR="5080">
              <a:lnSpc>
                <a:spcPct val="108200"/>
              </a:lnSpc>
              <a:spcBef>
                <a:spcPts val="25"/>
              </a:spcBef>
            </a:pPr>
            <a:r>
              <a:rPr dirty="0" spc="-45"/>
              <a:t>Let’s</a:t>
            </a:r>
            <a:r>
              <a:rPr dirty="0" spc="-90"/>
              <a:t> </a:t>
            </a:r>
            <a:r>
              <a:rPr dirty="0" spc="-20"/>
              <a:t>reconsider</a:t>
            </a:r>
            <a:r>
              <a:rPr dirty="0" spc="-90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 i="1">
                <a:latin typeface="Source Sans 3"/>
                <a:cs typeface="Source Sans 3"/>
              </a:rPr>
              <a:t>population</a:t>
            </a:r>
            <a:r>
              <a:rPr dirty="0" spc="-90" i="1">
                <a:latin typeface="Source Sans 3"/>
                <a:cs typeface="Source Sans 3"/>
              </a:rPr>
              <a:t> </a:t>
            </a:r>
            <a:r>
              <a:rPr dirty="0"/>
              <a:t>of</a:t>
            </a:r>
            <a:r>
              <a:rPr dirty="0" spc="-85"/>
              <a:t> </a:t>
            </a:r>
            <a:r>
              <a:rPr dirty="0"/>
              <a:t>words</a:t>
            </a:r>
            <a:r>
              <a:rPr dirty="0" spc="-90"/>
              <a:t> </a:t>
            </a:r>
            <a:r>
              <a:rPr dirty="0"/>
              <a:t>in</a:t>
            </a:r>
            <a:r>
              <a:rPr dirty="0" spc="-90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>
                <a:solidFill>
                  <a:srgbClr val="41AFFA"/>
                </a:solidFill>
                <a:hlinkClick r:id="rId2"/>
              </a:rPr>
              <a:t>Gettysburg</a:t>
            </a:r>
            <a:r>
              <a:rPr dirty="0" spc="-90">
                <a:solidFill>
                  <a:srgbClr val="41AFFA"/>
                </a:solidFill>
                <a:hlinkClick r:id="rId2"/>
              </a:rPr>
              <a:t> </a:t>
            </a:r>
            <a:r>
              <a:rPr dirty="0">
                <a:solidFill>
                  <a:srgbClr val="41AFFA"/>
                </a:solidFill>
                <a:hlinkClick r:id="rId2"/>
              </a:rPr>
              <a:t>Address</a:t>
            </a:r>
            <a:r>
              <a:rPr dirty="0" spc="-85">
                <a:solidFill>
                  <a:srgbClr val="41AFFA"/>
                </a:solidFill>
              </a:rPr>
              <a:t> </a:t>
            </a:r>
            <a:r>
              <a:rPr dirty="0"/>
              <a:t>you</a:t>
            </a:r>
            <a:r>
              <a:rPr dirty="0" spc="-90"/>
              <a:t> </a:t>
            </a:r>
            <a:r>
              <a:rPr dirty="0"/>
              <a:t>first</a:t>
            </a:r>
            <a:r>
              <a:rPr dirty="0" spc="-90"/>
              <a:t> </a:t>
            </a:r>
            <a:r>
              <a:rPr dirty="0" spc="-10"/>
              <a:t>looked </a:t>
            </a:r>
            <a:r>
              <a:rPr dirty="0"/>
              <a:t>at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65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/>
              <a:t>previous</a:t>
            </a:r>
            <a:r>
              <a:rPr dirty="0" spc="-65"/>
              <a:t> </a:t>
            </a:r>
            <a:r>
              <a:rPr dirty="0" spc="-10"/>
              <a:t>exploration.</a:t>
            </a:r>
            <a:r>
              <a:rPr dirty="0" spc="-60"/>
              <a:t> </a:t>
            </a:r>
            <a:r>
              <a:rPr dirty="0"/>
              <a:t>Suppose</a:t>
            </a:r>
            <a:r>
              <a:rPr dirty="0" spc="-65"/>
              <a:t> </a:t>
            </a:r>
            <a:r>
              <a:rPr dirty="0"/>
              <a:t>instead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looking</a:t>
            </a:r>
            <a:r>
              <a:rPr dirty="0" spc="-60"/>
              <a:t> </a:t>
            </a:r>
            <a:r>
              <a:rPr dirty="0"/>
              <a:t>at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spc="-10"/>
              <a:t>proportion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20"/>
              <a:t>short </a:t>
            </a:r>
            <a:r>
              <a:rPr dirty="0"/>
              <a:t>words</a:t>
            </a:r>
            <a:r>
              <a:rPr dirty="0" spc="-60"/>
              <a:t> </a:t>
            </a:r>
            <a:r>
              <a:rPr dirty="0"/>
              <a:t>(3</a:t>
            </a:r>
            <a:r>
              <a:rPr dirty="0" spc="-60"/>
              <a:t> </a:t>
            </a:r>
            <a:r>
              <a:rPr dirty="0"/>
              <a:t>or</a:t>
            </a:r>
            <a:r>
              <a:rPr dirty="0" spc="-60"/>
              <a:t> </a:t>
            </a:r>
            <a:r>
              <a:rPr dirty="0"/>
              <a:t>fewer</a:t>
            </a:r>
            <a:r>
              <a:rPr dirty="0" spc="-60"/>
              <a:t> </a:t>
            </a:r>
            <a:r>
              <a:rPr dirty="0" spc="-10"/>
              <a:t>letters)</a:t>
            </a:r>
            <a:r>
              <a:rPr dirty="0" spc="-55"/>
              <a:t> </a:t>
            </a:r>
            <a:r>
              <a:rPr dirty="0"/>
              <a:t>we</a:t>
            </a:r>
            <a:r>
              <a:rPr dirty="0" spc="-60"/>
              <a:t> </a:t>
            </a:r>
            <a:r>
              <a:rPr dirty="0"/>
              <a:t>look</a:t>
            </a:r>
            <a:r>
              <a:rPr dirty="0" spc="-60"/>
              <a:t> </a:t>
            </a:r>
            <a:r>
              <a:rPr dirty="0"/>
              <a:t>at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i="1">
                <a:latin typeface="Source Sans 3"/>
                <a:cs typeface="Source Sans 3"/>
              </a:rPr>
              <a:t>number</a:t>
            </a:r>
            <a:r>
              <a:rPr dirty="0" spc="-95" i="1">
                <a:latin typeface="Source Sans 3"/>
                <a:cs typeface="Source Sans 3"/>
              </a:rPr>
              <a:t> </a:t>
            </a:r>
            <a:r>
              <a:rPr dirty="0" i="1">
                <a:latin typeface="Source Sans 3"/>
                <a:cs typeface="Source Sans 3"/>
              </a:rPr>
              <a:t>of</a:t>
            </a:r>
            <a:r>
              <a:rPr dirty="0" spc="-95" i="1">
                <a:latin typeface="Source Sans 3"/>
                <a:cs typeface="Source Sans 3"/>
              </a:rPr>
              <a:t> </a:t>
            </a:r>
            <a:r>
              <a:rPr dirty="0" spc="-10" i="1">
                <a:latin typeface="Source Sans 3"/>
                <a:cs typeface="Source Sans 3"/>
              </a:rPr>
              <a:t>letters</a:t>
            </a:r>
            <a:r>
              <a:rPr dirty="0" spc="-95" i="1">
                <a:latin typeface="Source Sans 3"/>
                <a:cs typeface="Source Sans 3"/>
              </a:rPr>
              <a:t> </a:t>
            </a:r>
            <a:r>
              <a:rPr dirty="0" i="1">
                <a:latin typeface="Source Sans 3"/>
                <a:cs typeface="Source Sans 3"/>
              </a:rPr>
              <a:t>per</a:t>
            </a:r>
            <a:r>
              <a:rPr dirty="0" spc="-95" i="1">
                <a:latin typeface="Source Sans 3"/>
                <a:cs typeface="Source Sans 3"/>
              </a:rPr>
              <a:t> </a:t>
            </a:r>
            <a:r>
              <a:rPr dirty="0" spc="-20" i="1">
                <a:latin typeface="Source Sans 3"/>
                <a:cs typeface="Source Sans 3"/>
              </a:rPr>
              <a:t>word</a:t>
            </a:r>
            <a:r>
              <a:rPr dirty="0" spc="-20"/>
              <a:t>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7973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50" b="1">
                <a:latin typeface="Source Sans 3 Semibold"/>
                <a:cs typeface="Source Sans 3 Semibold"/>
              </a:rPr>
              <a:t>1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72185"/>
            <a:ext cx="15821660" cy="649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number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letters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per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word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quantitative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or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categorical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variable?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Why?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7973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50" b="1">
                <a:latin typeface="Source Sans 3 Semibold"/>
                <a:cs typeface="Source Sans 3 Semibold"/>
              </a:rPr>
              <a:t>2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19988"/>
            <a:ext cx="17093565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Suggest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statistic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(a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single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number)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could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calculate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from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your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that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summarizes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number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letters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per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word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variable.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7973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50" b="1">
                <a:latin typeface="Source Sans 3 Semibold"/>
                <a:cs typeface="Source Sans 3 Semibold"/>
              </a:rPr>
              <a:t>3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19988"/>
            <a:ext cx="17847310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What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parameter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are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hoping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estimate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with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your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statistic?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(Hint: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clear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how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this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relates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population.)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9249" y="-61087"/>
            <a:ext cx="18104485" cy="3035300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algn="ctr" marL="208915">
              <a:lnSpc>
                <a:spcPct val="100000"/>
              </a:lnSpc>
              <a:spcBef>
                <a:spcPts val="1705"/>
              </a:spcBef>
            </a:pPr>
            <a:r>
              <a:rPr dirty="0" sz="4100" b="1">
                <a:solidFill>
                  <a:srgbClr val="FFFFFF"/>
                </a:solidFill>
                <a:latin typeface="Source Sans 3 Semibold"/>
                <a:cs typeface="Source Sans 3 Semibold"/>
              </a:rPr>
              <a:t>EXERCISE</a:t>
            </a:r>
            <a:r>
              <a:rPr dirty="0" sz="4100" spc="-1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4100" spc="-50" b="1">
                <a:solidFill>
                  <a:srgbClr val="FFFFFF"/>
                </a:solidFill>
                <a:latin typeface="Source Sans 3 Semibold"/>
                <a:cs typeface="Source Sans 3 Semibold"/>
              </a:rPr>
              <a:t>4</a:t>
            </a:r>
            <a:endParaRPr sz="4100">
              <a:latin typeface="Source Sans 3 Semibold"/>
              <a:cs typeface="Source Sans 3 Semibold"/>
            </a:endParaRPr>
          </a:p>
          <a:p>
            <a:pPr algn="just" marL="12700" marR="5080">
              <a:lnSpc>
                <a:spcPct val="108200"/>
              </a:lnSpc>
              <a:spcBef>
                <a:spcPts val="12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How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could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explore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whether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sampling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methods</a:t>
            </a:r>
            <a:r>
              <a:rPr dirty="0" sz="4100" spc="-10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used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previously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are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unbiased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estimating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parameter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identified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#3?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What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does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it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unbiased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4100" spc="-1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this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 context?</a:t>
            </a:r>
            <a:endParaRPr sz="4100">
              <a:latin typeface="Source Sans 3"/>
              <a:cs typeface="Source Sans 3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499" rIns="0" bIns="0" rtlCol="0" vert="horz">
            <a:spAutoFit/>
          </a:bodyPr>
          <a:lstStyle/>
          <a:p>
            <a:pPr marL="806323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FIGURE</a:t>
            </a:r>
            <a:r>
              <a:rPr dirty="0" spc="-15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5: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9" y="1457325"/>
            <a:ext cx="9686924" cy="76199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30249" y="9417050"/>
            <a:ext cx="16452850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Population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for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lengths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words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(number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letters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per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word)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Gettysburg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Source Sans 3"/>
                <a:cs typeface="Source Sans 3"/>
              </a:rPr>
              <a:t>address</a:t>
            </a:r>
            <a:endParaRPr sz="3150">
              <a:latin typeface="Source Sans 3"/>
              <a:cs typeface="Source Sans 3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61949" y="1019170"/>
            <a:ext cx="18288000" cy="4105275"/>
            <a:chOff x="361949" y="1019170"/>
            <a:chExt cx="18288000" cy="4105275"/>
          </a:xfrm>
        </p:grpSpPr>
        <p:sp>
          <p:nvSpPr>
            <p:cNvPr id="3" name="object 3" descr=""/>
            <p:cNvSpPr/>
            <p:nvPr/>
          </p:nvSpPr>
          <p:spPr>
            <a:xfrm>
              <a:off x="366712" y="1023933"/>
              <a:ext cx="18278475" cy="4095750"/>
            </a:xfrm>
            <a:custGeom>
              <a:avLst/>
              <a:gdLst/>
              <a:ahLst/>
              <a:cxnLst/>
              <a:rect l="l" t="t" r="r" b="b"/>
              <a:pathLst>
                <a:path w="18278475" h="4095750">
                  <a:moveTo>
                    <a:pt x="18266080" y="4095740"/>
                  </a:moveTo>
                  <a:lnTo>
                    <a:pt x="84546" y="4095740"/>
                  </a:lnTo>
                  <a:lnTo>
                    <a:pt x="78661" y="4095154"/>
                  </a:lnTo>
                  <a:lnTo>
                    <a:pt x="35275" y="4077193"/>
                  </a:lnTo>
                  <a:lnTo>
                    <a:pt x="9161" y="4045362"/>
                  </a:lnTo>
                  <a:lnTo>
                    <a:pt x="0" y="4011196"/>
                  </a:lnTo>
                  <a:lnTo>
                    <a:pt x="0" y="4005262"/>
                  </a:lnTo>
                  <a:lnTo>
                    <a:pt x="0" y="12380"/>
                  </a:lnTo>
                  <a:lnTo>
                    <a:pt x="12392" y="0"/>
                  </a:lnTo>
                  <a:lnTo>
                    <a:pt x="18193926" y="0"/>
                  </a:lnTo>
                  <a:lnTo>
                    <a:pt x="18233315" y="11943"/>
                  </a:lnTo>
                  <a:lnTo>
                    <a:pt x="18266521" y="45141"/>
                  </a:lnTo>
                  <a:lnTo>
                    <a:pt x="18278472" y="84543"/>
                  </a:lnTo>
                  <a:lnTo>
                    <a:pt x="18278472" y="4083350"/>
                  </a:lnTo>
                  <a:lnTo>
                    <a:pt x="18267901" y="4095377"/>
                  </a:lnTo>
                  <a:lnTo>
                    <a:pt x="18266080" y="4095740"/>
                  </a:lnTo>
                  <a:close/>
                </a:path>
              </a:pathLst>
            </a:custGeom>
            <a:solidFill>
              <a:srgbClr val="006080">
                <a:alpha val="626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66712" y="1023933"/>
              <a:ext cx="18278475" cy="4095750"/>
            </a:xfrm>
            <a:custGeom>
              <a:avLst/>
              <a:gdLst/>
              <a:ahLst/>
              <a:cxnLst/>
              <a:rect l="l" t="t" r="r" b="b"/>
              <a:pathLst>
                <a:path w="18278475" h="4095750">
                  <a:moveTo>
                    <a:pt x="0" y="4005262"/>
                  </a:moveTo>
                  <a:lnTo>
                    <a:pt x="0" y="14287"/>
                  </a:lnTo>
                  <a:lnTo>
                    <a:pt x="0" y="12380"/>
                  </a:lnTo>
                  <a:lnTo>
                    <a:pt x="362" y="10557"/>
                  </a:lnTo>
                  <a:lnTo>
                    <a:pt x="1087" y="8799"/>
                  </a:lnTo>
                  <a:lnTo>
                    <a:pt x="1812" y="7059"/>
                  </a:lnTo>
                  <a:lnTo>
                    <a:pt x="2844" y="5515"/>
                  </a:lnTo>
                  <a:lnTo>
                    <a:pt x="4184" y="4176"/>
                  </a:lnTo>
                  <a:lnTo>
                    <a:pt x="5524" y="2827"/>
                  </a:lnTo>
                  <a:lnTo>
                    <a:pt x="7069" y="1795"/>
                  </a:lnTo>
                  <a:lnTo>
                    <a:pt x="8819" y="1079"/>
                  </a:lnTo>
                  <a:lnTo>
                    <a:pt x="10570" y="362"/>
                  </a:lnTo>
                  <a:lnTo>
                    <a:pt x="12392" y="0"/>
                  </a:lnTo>
                  <a:lnTo>
                    <a:pt x="14287" y="0"/>
                  </a:lnTo>
                  <a:lnTo>
                    <a:pt x="18187986" y="0"/>
                  </a:lnTo>
                  <a:lnTo>
                    <a:pt x="18193926" y="0"/>
                  </a:lnTo>
                  <a:lnTo>
                    <a:pt x="18199811" y="576"/>
                  </a:lnTo>
                  <a:lnTo>
                    <a:pt x="18205636" y="1739"/>
                  </a:lnTo>
                  <a:lnTo>
                    <a:pt x="18211463" y="2902"/>
                  </a:lnTo>
                  <a:lnTo>
                    <a:pt x="18217123" y="4613"/>
                  </a:lnTo>
                  <a:lnTo>
                    <a:pt x="18222612" y="6883"/>
                  </a:lnTo>
                  <a:lnTo>
                    <a:pt x="18228100" y="9152"/>
                  </a:lnTo>
                  <a:lnTo>
                    <a:pt x="18233315" y="11943"/>
                  </a:lnTo>
                  <a:lnTo>
                    <a:pt x="18238255" y="15245"/>
                  </a:lnTo>
                  <a:lnTo>
                    <a:pt x="18243196" y="18538"/>
                  </a:lnTo>
                  <a:lnTo>
                    <a:pt x="18247768" y="22286"/>
                  </a:lnTo>
                  <a:lnTo>
                    <a:pt x="18251969" y="26491"/>
                  </a:lnTo>
                  <a:lnTo>
                    <a:pt x="18256169" y="30686"/>
                  </a:lnTo>
                  <a:lnTo>
                    <a:pt x="18271583" y="55847"/>
                  </a:lnTo>
                  <a:lnTo>
                    <a:pt x="18273856" y="61336"/>
                  </a:lnTo>
                  <a:lnTo>
                    <a:pt x="18275574" y="66991"/>
                  </a:lnTo>
                  <a:lnTo>
                    <a:pt x="18276733" y="72823"/>
                  </a:lnTo>
                  <a:lnTo>
                    <a:pt x="18277892" y="78655"/>
                  </a:lnTo>
                  <a:lnTo>
                    <a:pt x="18278472" y="84543"/>
                  </a:lnTo>
                  <a:lnTo>
                    <a:pt x="18278473" y="90487"/>
                  </a:lnTo>
                  <a:lnTo>
                    <a:pt x="18278473" y="4081462"/>
                  </a:lnTo>
                  <a:lnTo>
                    <a:pt x="18264186" y="4095749"/>
                  </a:lnTo>
                  <a:lnTo>
                    <a:pt x="90487" y="4095749"/>
                  </a:lnTo>
                  <a:lnTo>
                    <a:pt x="84546" y="4095740"/>
                  </a:lnTo>
                  <a:lnTo>
                    <a:pt x="78661" y="4095154"/>
                  </a:lnTo>
                  <a:lnTo>
                    <a:pt x="72834" y="4093991"/>
                  </a:lnTo>
                  <a:lnTo>
                    <a:pt x="67006" y="4092837"/>
                  </a:lnTo>
                  <a:lnTo>
                    <a:pt x="61348" y="4091126"/>
                  </a:lnTo>
                  <a:lnTo>
                    <a:pt x="55859" y="4088847"/>
                  </a:lnTo>
                  <a:lnTo>
                    <a:pt x="50370" y="4086578"/>
                  </a:lnTo>
                  <a:lnTo>
                    <a:pt x="45155" y="4083796"/>
                  </a:lnTo>
                  <a:lnTo>
                    <a:pt x="40215" y="4080494"/>
                  </a:lnTo>
                  <a:lnTo>
                    <a:pt x="35275" y="4077193"/>
                  </a:lnTo>
                  <a:lnTo>
                    <a:pt x="9161" y="4045362"/>
                  </a:lnTo>
                  <a:lnTo>
                    <a:pt x="0" y="4011196"/>
                  </a:lnTo>
                  <a:lnTo>
                    <a:pt x="0" y="400526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22369" y="143510"/>
            <a:ext cx="3167380" cy="6496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DEFINITION</a:t>
            </a:r>
            <a:r>
              <a:rPr dirty="0" spc="-160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6: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1535" y="919988"/>
            <a:ext cx="17523460" cy="3749675"/>
          </a:xfrm>
          <a:prstGeom prst="rect">
            <a:avLst/>
          </a:prstGeom>
        </p:spPr>
        <p:txBody>
          <a:bodyPr wrap="square" lIns="0" tIns="235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4100" b="1">
                <a:solidFill>
                  <a:srgbClr val="FFFFFF"/>
                </a:solidFill>
                <a:latin typeface="Source Sans 3 Semibold"/>
                <a:cs typeface="Source Sans 3 Semibold"/>
              </a:rPr>
              <a:t>DEFINITION</a:t>
            </a:r>
            <a:r>
              <a:rPr dirty="0" sz="4100" spc="-16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4100" spc="-25" b="1">
                <a:solidFill>
                  <a:srgbClr val="FFFFFF"/>
                </a:solidFill>
                <a:latin typeface="Source Sans 3 Semibold"/>
                <a:cs typeface="Source Sans 3 Semibold"/>
              </a:rPr>
              <a:t>():</a:t>
            </a:r>
            <a:endParaRPr sz="4100">
              <a:latin typeface="Source Sans 3 Semibold"/>
              <a:cs typeface="Source Sans 3 Semibold"/>
            </a:endParaRPr>
          </a:p>
          <a:p>
            <a:pPr marL="12700" marR="5080">
              <a:lnSpc>
                <a:spcPct val="108200"/>
              </a:lnSpc>
              <a:spcBef>
                <a:spcPts val="135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data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 b="1" i="1">
                <a:solidFill>
                  <a:srgbClr val="FFFFFF"/>
                </a:solidFill>
                <a:latin typeface="Source Sans 3 Semibold"/>
                <a:cs typeface="Source Sans 3 Semibold"/>
              </a:rPr>
              <a:t>skewed</a:t>
            </a:r>
            <a:r>
              <a:rPr dirty="0" sz="4100" spc="-50" b="1" i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if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it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not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symmetric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and,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instead,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bulk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of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values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tend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fall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one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side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with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"longer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tail"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other. </a:t>
            </a:r>
            <a:r>
              <a:rPr dirty="0" sz="4100" spc="-30">
                <a:solidFill>
                  <a:srgbClr val="FFFFFF"/>
                </a:solidFill>
                <a:latin typeface="Source Sans 3"/>
                <a:cs typeface="Source Sans 3"/>
              </a:rPr>
              <a:t>Right-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skewed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have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their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tail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on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right,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95">
                <a:solidFill>
                  <a:srgbClr val="FFFFFF"/>
                </a:solidFill>
                <a:latin typeface="Source Sans 3"/>
                <a:cs typeface="Source Sans 3"/>
              </a:rPr>
              <a:t>left-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skewed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have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their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tail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left.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1012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dirty="0"/>
              <a:t>With</a:t>
            </a:r>
            <a:r>
              <a:rPr dirty="0" spc="-95"/>
              <a:t> </a:t>
            </a:r>
            <a:r>
              <a:rPr dirty="0"/>
              <a:t>skewed</a:t>
            </a:r>
            <a:r>
              <a:rPr dirty="0" spc="-95"/>
              <a:t> </a:t>
            </a:r>
            <a:r>
              <a:rPr dirty="0"/>
              <a:t>data,</a:t>
            </a:r>
            <a:r>
              <a:rPr dirty="0" spc="-90"/>
              <a:t> </a:t>
            </a:r>
            <a:r>
              <a:rPr dirty="0"/>
              <a:t>we</a:t>
            </a:r>
            <a:r>
              <a:rPr dirty="0" spc="-95"/>
              <a:t> </a:t>
            </a:r>
            <a:r>
              <a:rPr dirty="0"/>
              <a:t>might</a:t>
            </a:r>
            <a:r>
              <a:rPr dirty="0" spc="-90"/>
              <a:t> </a:t>
            </a:r>
            <a:r>
              <a:rPr dirty="0"/>
              <a:t>prefer</a:t>
            </a:r>
            <a:r>
              <a:rPr dirty="0" spc="-95"/>
              <a:t> </a:t>
            </a:r>
            <a:r>
              <a:rPr dirty="0"/>
              <a:t>to</a:t>
            </a:r>
            <a:r>
              <a:rPr dirty="0" spc="-90"/>
              <a:t> </a:t>
            </a:r>
            <a:r>
              <a:rPr dirty="0"/>
              <a:t>measure</a:t>
            </a:r>
            <a:r>
              <a:rPr dirty="0" spc="-95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 spc="-35"/>
              <a:t>“center”</a:t>
            </a:r>
            <a:r>
              <a:rPr dirty="0" spc="-95"/>
              <a:t> </a:t>
            </a:r>
            <a:r>
              <a:rPr dirty="0"/>
              <a:t>of</a:t>
            </a:r>
            <a:r>
              <a:rPr dirty="0" spc="-90"/>
              <a:t> </a:t>
            </a:r>
            <a:r>
              <a:rPr dirty="0"/>
              <a:t>the</a:t>
            </a:r>
            <a:r>
              <a:rPr dirty="0" spc="-95"/>
              <a:t> </a:t>
            </a:r>
            <a:r>
              <a:rPr dirty="0"/>
              <a:t>distribution</a:t>
            </a:r>
            <a:r>
              <a:rPr dirty="0" spc="-90"/>
              <a:t> </a:t>
            </a:r>
            <a:r>
              <a:rPr dirty="0" spc="-20"/>
              <a:t>with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median</a:t>
            </a:r>
            <a:r>
              <a:rPr dirty="0" spc="-50"/>
              <a:t> </a:t>
            </a:r>
            <a:r>
              <a:rPr dirty="0"/>
              <a:t>rather</a:t>
            </a:r>
            <a:r>
              <a:rPr dirty="0" spc="-50"/>
              <a:t> </a:t>
            </a:r>
            <a:r>
              <a:rPr dirty="0"/>
              <a:t>than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 spc="-10"/>
              <a:t>mean.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61949" y="1019170"/>
            <a:ext cx="18288000" cy="2752725"/>
            <a:chOff x="361949" y="1019170"/>
            <a:chExt cx="18288000" cy="2752725"/>
          </a:xfrm>
        </p:grpSpPr>
        <p:sp>
          <p:nvSpPr>
            <p:cNvPr id="3" name="object 3" descr=""/>
            <p:cNvSpPr/>
            <p:nvPr/>
          </p:nvSpPr>
          <p:spPr>
            <a:xfrm>
              <a:off x="366712" y="1023932"/>
              <a:ext cx="18278475" cy="2743200"/>
            </a:xfrm>
            <a:custGeom>
              <a:avLst/>
              <a:gdLst/>
              <a:ahLst/>
              <a:cxnLst/>
              <a:rect l="l" t="t" r="r" b="b"/>
              <a:pathLst>
                <a:path w="18278475" h="2743200">
                  <a:moveTo>
                    <a:pt x="18266080" y="2743190"/>
                  </a:moveTo>
                  <a:lnTo>
                    <a:pt x="84546" y="2743190"/>
                  </a:lnTo>
                  <a:lnTo>
                    <a:pt x="78661" y="2742604"/>
                  </a:lnTo>
                  <a:lnTo>
                    <a:pt x="35275" y="2724633"/>
                  </a:lnTo>
                  <a:lnTo>
                    <a:pt x="9161" y="2692821"/>
                  </a:lnTo>
                  <a:lnTo>
                    <a:pt x="0" y="2658646"/>
                  </a:lnTo>
                  <a:lnTo>
                    <a:pt x="0" y="2652712"/>
                  </a:lnTo>
                  <a:lnTo>
                    <a:pt x="0" y="12380"/>
                  </a:lnTo>
                  <a:lnTo>
                    <a:pt x="12392" y="0"/>
                  </a:lnTo>
                  <a:lnTo>
                    <a:pt x="18193926" y="0"/>
                  </a:lnTo>
                  <a:lnTo>
                    <a:pt x="18233315" y="11933"/>
                  </a:lnTo>
                  <a:lnTo>
                    <a:pt x="18266521" y="45141"/>
                  </a:lnTo>
                  <a:lnTo>
                    <a:pt x="18278472" y="84543"/>
                  </a:lnTo>
                  <a:lnTo>
                    <a:pt x="18278472" y="2730800"/>
                  </a:lnTo>
                  <a:lnTo>
                    <a:pt x="18267901" y="2742818"/>
                  </a:lnTo>
                  <a:lnTo>
                    <a:pt x="18266080" y="2743190"/>
                  </a:lnTo>
                  <a:close/>
                </a:path>
              </a:pathLst>
            </a:custGeom>
            <a:solidFill>
              <a:srgbClr val="006080">
                <a:alpha val="626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66712" y="1023932"/>
              <a:ext cx="18278475" cy="2743200"/>
            </a:xfrm>
            <a:custGeom>
              <a:avLst/>
              <a:gdLst/>
              <a:ahLst/>
              <a:cxnLst/>
              <a:rect l="l" t="t" r="r" b="b"/>
              <a:pathLst>
                <a:path w="18278475" h="2743200">
                  <a:moveTo>
                    <a:pt x="0" y="2652712"/>
                  </a:moveTo>
                  <a:lnTo>
                    <a:pt x="0" y="14287"/>
                  </a:lnTo>
                  <a:lnTo>
                    <a:pt x="0" y="12380"/>
                  </a:lnTo>
                  <a:lnTo>
                    <a:pt x="362" y="10557"/>
                  </a:lnTo>
                  <a:lnTo>
                    <a:pt x="1087" y="8799"/>
                  </a:lnTo>
                  <a:lnTo>
                    <a:pt x="1812" y="7041"/>
                  </a:lnTo>
                  <a:lnTo>
                    <a:pt x="2844" y="5506"/>
                  </a:lnTo>
                  <a:lnTo>
                    <a:pt x="4184" y="4176"/>
                  </a:lnTo>
                  <a:lnTo>
                    <a:pt x="5524" y="2837"/>
                  </a:lnTo>
                  <a:lnTo>
                    <a:pt x="7069" y="1804"/>
                  </a:lnTo>
                  <a:lnTo>
                    <a:pt x="8819" y="1079"/>
                  </a:lnTo>
                  <a:lnTo>
                    <a:pt x="10570" y="362"/>
                  </a:lnTo>
                  <a:lnTo>
                    <a:pt x="12392" y="0"/>
                  </a:lnTo>
                  <a:lnTo>
                    <a:pt x="14287" y="0"/>
                  </a:lnTo>
                  <a:lnTo>
                    <a:pt x="18187986" y="0"/>
                  </a:lnTo>
                  <a:lnTo>
                    <a:pt x="18193926" y="0"/>
                  </a:lnTo>
                  <a:lnTo>
                    <a:pt x="18199811" y="576"/>
                  </a:lnTo>
                  <a:lnTo>
                    <a:pt x="18238255" y="15236"/>
                  </a:lnTo>
                  <a:lnTo>
                    <a:pt x="18243196" y="18538"/>
                  </a:lnTo>
                  <a:lnTo>
                    <a:pt x="18247768" y="22296"/>
                  </a:lnTo>
                  <a:lnTo>
                    <a:pt x="18251969" y="26500"/>
                  </a:lnTo>
                  <a:lnTo>
                    <a:pt x="18256169" y="30696"/>
                  </a:lnTo>
                  <a:lnTo>
                    <a:pt x="18259919" y="35272"/>
                  </a:lnTo>
                  <a:lnTo>
                    <a:pt x="18263221" y="40211"/>
                  </a:lnTo>
                  <a:lnTo>
                    <a:pt x="18266521" y="45141"/>
                  </a:lnTo>
                  <a:lnTo>
                    <a:pt x="18269310" y="50350"/>
                  </a:lnTo>
                  <a:lnTo>
                    <a:pt x="18271583" y="55847"/>
                  </a:lnTo>
                  <a:lnTo>
                    <a:pt x="18273856" y="61336"/>
                  </a:lnTo>
                  <a:lnTo>
                    <a:pt x="18275574" y="67000"/>
                  </a:lnTo>
                  <a:lnTo>
                    <a:pt x="18276733" y="72832"/>
                  </a:lnTo>
                  <a:lnTo>
                    <a:pt x="18277892" y="78665"/>
                  </a:lnTo>
                  <a:lnTo>
                    <a:pt x="18278472" y="84543"/>
                  </a:lnTo>
                  <a:lnTo>
                    <a:pt x="18278473" y="90487"/>
                  </a:lnTo>
                  <a:lnTo>
                    <a:pt x="18278473" y="2728912"/>
                  </a:lnTo>
                  <a:lnTo>
                    <a:pt x="18278472" y="2730800"/>
                  </a:lnTo>
                  <a:lnTo>
                    <a:pt x="18278108" y="2732614"/>
                  </a:lnTo>
                  <a:lnTo>
                    <a:pt x="18277383" y="2734353"/>
                  </a:lnTo>
                  <a:lnTo>
                    <a:pt x="18276658" y="2736112"/>
                  </a:lnTo>
                  <a:lnTo>
                    <a:pt x="18264186" y="2743199"/>
                  </a:lnTo>
                  <a:lnTo>
                    <a:pt x="90487" y="2743199"/>
                  </a:lnTo>
                  <a:lnTo>
                    <a:pt x="84546" y="2743190"/>
                  </a:lnTo>
                  <a:lnTo>
                    <a:pt x="78661" y="2742604"/>
                  </a:lnTo>
                  <a:lnTo>
                    <a:pt x="72834" y="2741441"/>
                  </a:lnTo>
                  <a:lnTo>
                    <a:pt x="67006" y="2740287"/>
                  </a:lnTo>
                  <a:lnTo>
                    <a:pt x="30704" y="2720884"/>
                  </a:lnTo>
                  <a:lnTo>
                    <a:pt x="26503" y="2716689"/>
                  </a:lnTo>
                  <a:lnTo>
                    <a:pt x="22301" y="2712494"/>
                  </a:lnTo>
                  <a:lnTo>
                    <a:pt x="18550" y="2707918"/>
                  </a:lnTo>
                  <a:lnTo>
                    <a:pt x="15249" y="2702969"/>
                  </a:lnTo>
                  <a:lnTo>
                    <a:pt x="11948" y="2698030"/>
                  </a:lnTo>
                  <a:lnTo>
                    <a:pt x="0" y="2658646"/>
                  </a:lnTo>
                  <a:lnTo>
                    <a:pt x="0" y="2652712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22369" y="143510"/>
            <a:ext cx="3167380" cy="6496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DEFINITION</a:t>
            </a:r>
            <a:r>
              <a:rPr dirty="0" spc="-160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7: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1535" y="919988"/>
            <a:ext cx="16344265" cy="2397125"/>
          </a:xfrm>
          <a:prstGeom prst="rect">
            <a:avLst/>
          </a:prstGeom>
        </p:spPr>
        <p:txBody>
          <a:bodyPr wrap="square" lIns="0" tIns="235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4100" b="1">
                <a:solidFill>
                  <a:srgbClr val="FFFFFF"/>
                </a:solidFill>
                <a:latin typeface="Source Sans 3 Semibold"/>
                <a:cs typeface="Source Sans 3 Semibold"/>
              </a:rPr>
              <a:t>DEFINITION</a:t>
            </a:r>
            <a:r>
              <a:rPr dirty="0" sz="4100" spc="-16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4100" spc="-25" b="1">
                <a:solidFill>
                  <a:srgbClr val="FFFFFF"/>
                </a:solidFill>
                <a:latin typeface="Source Sans 3 Semibold"/>
                <a:cs typeface="Source Sans 3 Semibold"/>
              </a:rPr>
              <a:t>():</a:t>
            </a:r>
            <a:endParaRPr sz="4100">
              <a:latin typeface="Source Sans 3 Semibold"/>
              <a:cs typeface="Source Sans 3 Semibold"/>
            </a:endParaRPr>
          </a:p>
          <a:p>
            <a:pPr marL="12700" marR="5080">
              <a:lnSpc>
                <a:spcPct val="108200"/>
              </a:lnSpc>
              <a:spcBef>
                <a:spcPts val="135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b="1" i="1">
                <a:solidFill>
                  <a:srgbClr val="FFFFFF"/>
                </a:solidFill>
                <a:latin typeface="Source Sans 3 Semibold"/>
                <a:cs typeface="Source Sans 3 Semibold"/>
              </a:rPr>
              <a:t>median</a:t>
            </a:r>
            <a:r>
              <a:rPr dirty="0" sz="4100" spc="-70" b="1" i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middle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data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value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when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data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are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sorted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order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from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smallest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largest.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7973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50" b="1">
                <a:latin typeface="Source Sans 3 Semibold"/>
                <a:cs typeface="Source Sans 3 Semibold"/>
              </a:rPr>
              <a:t>8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19988"/>
            <a:ext cx="17623155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found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4.295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letters,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think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median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larger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or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smaller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than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4.295?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Briefly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explain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your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reasoning.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9249" y="-61087"/>
            <a:ext cx="18192115" cy="3711575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algn="ctr" marL="121285">
              <a:lnSpc>
                <a:spcPct val="100000"/>
              </a:lnSpc>
              <a:spcBef>
                <a:spcPts val="1705"/>
              </a:spcBef>
            </a:pPr>
            <a:r>
              <a:rPr dirty="0" sz="4100" b="1">
                <a:solidFill>
                  <a:srgbClr val="FFFFFF"/>
                </a:solidFill>
                <a:latin typeface="Source Sans 3 Semibold"/>
                <a:cs typeface="Source Sans 3 Semibold"/>
              </a:rPr>
              <a:t>EXERCISE</a:t>
            </a:r>
            <a:r>
              <a:rPr dirty="0" sz="4100" spc="-1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4100" spc="-50" b="1">
                <a:solidFill>
                  <a:srgbClr val="FFFFFF"/>
                </a:solidFill>
                <a:latin typeface="Source Sans 3 Semibold"/>
                <a:cs typeface="Source Sans 3 Semibold"/>
              </a:rPr>
              <a:t>9</a:t>
            </a:r>
            <a:endParaRPr sz="4100">
              <a:latin typeface="Source Sans 3 Semibold"/>
              <a:cs typeface="Source Sans 3 Semibold"/>
            </a:endParaRPr>
          </a:p>
          <a:p>
            <a:pPr marL="12700" marR="5080">
              <a:lnSpc>
                <a:spcPct val="108200"/>
              </a:lnSpc>
              <a:spcBef>
                <a:spcPts val="12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Summarize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behavior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this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population.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Recall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that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when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have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quantitative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variable,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should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talk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about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shape,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center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(using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and/or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median),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variability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(using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standard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deviation),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outliers,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well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as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making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sure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that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are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making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comments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relevant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context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study.</a:t>
            </a:r>
            <a:endParaRPr sz="4100">
              <a:latin typeface="Source Sans 3"/>
              <a:cs typeface="Source Sans 3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9809" y="143510"/>
            <a:ext cx="2212340" cy="6496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 b="1">
                <a:latin typeface="Source Sans 3 Semibold"/>
                <a:cs typeface="Source Sans 3 Semibold"/>
              </a:rPr>
              <a:t>TABLE</a:t>
            </a:r>
            <a:r>
              <a:rPr dirty="0" spc="-195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11: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353648" y="1263650"/>
            <a:ext cx="199834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-30" b="1">
                <a:solidFill>
                  <a:srgbClr val="FFFFFF"/>
                </a:solidFill>
                <a:latin typeface="Source Sans 3 Semibold"/>
                <a:cs typeface="Source Sans 3 Semibold"/>
              </a:rPr>
              <a:t>Parameters</a:t>
            </a:r>
            <a:endParaRPr sz="3150">
              <a:latin typeface="Source Sans 3 Semibold"/>
              <a:cs typeface="Source Sans 3 Semibold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13212" y="1131863"/>
            <a:ext cx="5266055" cy="2042160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3150" spc="-10" b="1">
                <a:solidFill>
                  <a:srgbClr val="FFFFFF"/>
                </a:solidFill>
                <a:latin typeface="Source Sans 3 Semibold"/>
                <a:cs typeface="Source Sans 3 Semibold"/>
              </a:rPr>
              <a:t>Statistics</a:t>
            </a:r>
            <a:endParaRPr sz="3150">
              <a:latin typeface="Source Sans 3 Semibold"/>
              <a:cs typeface="Source Sans 3 Semibold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335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dirty="0" sz="3350" spc="-18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dirty="0" sz="3700" spc="-4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3150" spc="2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20">
                <a:solidFill>
                  <a:srgbClr val="FFFFFF"/>
                </a:solidFill>
                <a:latin typeface="Source Sans 3"/>
                <a:cs typeface="Source Sans 3"/>
              </a:rPr>
              <a:t>mean</a:t>
            </a:r>
            <a:endParaRPr sz="3150">
              <a:latin typeface="Source Sans 3"/>
              <a:cs typeface="Source Sans 3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3350" spc="-10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335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dirty="0" sz="3700" spc="-4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315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standard</a:t>
            </a:r>
            <a:r>
              <a:rPr dirty="0" sz="3150" spc="-1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Source Sans 3"/>
                <a:cs typeface="Source Sans 3"/>
              </a:rPr>
              <a:t>deviation</a:t>
            </a:r>
            <a:endParaRPr sz="3150">
              <a:latin typeface="Source Sans 3"/>
              <a:cs typeface="Source Sans 3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353648" y="1776841"/>
            <a:ext cx="5945505" cy="13970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3350">
                <a:solidFill>
                  <a:srgbClr val="FFFFFF"/>
                </a:solidFill>
                <a:latin typeface="Verdana"/>
                <a:cs typeface="Verdana"/>
              </a:rPr>
              <a:t>μ</a:t>
            </a:r>
            <a:r>
              <a:rPr dirty="0" sz="3350" spc="-20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dirty="0" sz="3700" spc="-4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population</a:t>
            </a:r>
            <a:r>
              <a:rPr dirty="0" sz="3150" spc="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20">
                <a:solidFill>
                  <a:srgbClr val="FFFFFF"/>
                </a:solidFill>
                <a:latin typeface="Source Sans 3"/>
                <a:cs typeface="Source Sans 3"/>
              </a:rPr>
              <a:t>mean</a:t>
            </a:r>
            <a:endParaRPr sz="3150">
              <a:latin typeface="Source Sans 3"/>
              <a:cs typeface="Source Sans 3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3350" spc="-110">
                <a:solidFill>
                  <a:srgbClr val="FFFFFF"/>
                </a:solidFill>
                <a:latin typeface="Verdana"/>
                <a:cs typeface="Verdana"/>
              </a:rPr>
              <a:t>σ</a:t>
            </a:r>
            <a:r>
              <a:rPr dirty="0" sz="3350" spc="-2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70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dirty="0" sz="3700" spc="-43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population</a:t>
            </a:r>
            <a:r>
              <a:rPr dirty="0" sz="315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standard</a:t>
            </a:r>
            <a:r>
              <a:rPr dirty="0" sz="3150" spc="-2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Source Sans 3"/>
                <a:cs typeface="Source Sans 3"/>
              </a:rPr>
              <a:t>deviation</a:t>
            </a:r>
            <a:endParaRPr sz="315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304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Note</a:t>
            </a:r>
            <a:r>
              <a:rPr dirty="0" spc="-65"/>
              <a:t> </a:t>
            </a:r>
            <a:r>
              <a:rPr dirty="0"/>
              <a:t>that</a:t>
            </a:r>
            <a:r>
              <a:rPr dirty="0" spc="-65"/>
              <a:t> </a:t>
            </a:r>
            <a:r>
              <a:rPr dirty="0"/>
              <a:t>we</a:t>
            </a:r>
            <a:r>
              <a:rPr dirty="0" spc="-65"/>
              <a:t> </a:t>
            </a:r>
            <a:r>
              <a:rPr dirty="0"/>
              <a:t>are</a:t>
            </a:r>
            <a:r>
              <a:rPr dirty="0" spc="-65"/>
              <a:t> </a:t>
            </a:r>
            <a:r>
              <a:rPr dirty="0"/>
              <a:t>focusing</a:t>
            </a:r>
            <a:r>
              <a:rPr dirty="0" spc="-60"/>
              <a:t> </a:t>
            </a:r>
            <a:r>
              <a:rPr dirty="0"/>
              <a:t>on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mean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standard</a:t>
            </a:r>
            <a:r>
              <a:rPr dirty="0" spc="-65"/>
              <a:t> </a:t>
            </a:r>
            <a:r>
              <a:rPr dirty="0" spc="-10"/>
              <a:t>deviation.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12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45531"/>
            <a:ext cx="17200245" cy="693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Identify</a:t>
            </a:r>
            <a:r>
              <a:rPr dirty="0" sz="4100" spc="-1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values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350" spc="-35">
                <a:solidFill>
                  <a:srgbClr val="FFFFFF"/>
                </a:solidFill>
                <a:latin typeface="Verdana"/>
                <a:cs typeface="Verdana"/>
              </a:rPr>
              <a:t>μ</a:t>
            </a:r>
            <a:r>
              <a:rPr dirty="0" sz="4350" spc="-6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350" spc="-145">
                <a:solidFill>
                  <a:srgbClr val="FFFFFF"/>
                </a:solidFill>
                <a:latin typeface="Verdana"/>
                <a:cs typeface="Verdana"/>
              </a:rPr>
              <a:t>σ</a:t>
            </a:r>
            <a:r>
              <a:rPr dirty="0" sz="4350" spc="-7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for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length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words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Gettysburg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Address.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1012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dirty="0" spc="-105"/>
              <a:t>To</a:t>
            </a:r>
            <a:r>
              <a:rPr dirty="0" spc="-85"/>
              <a:t> </a:t>
            </a:r>
            <a:r>
              <a:rPr dirty="0"/>
              <a:t>evaluate</a:t>
            </a:r>
            <a:r>
              <a:rPr dirty="0" spc="-85"/>
              <a:t> </a:t>
            </a:r>
            <a:r>
              <a:rPr dirty="0"/>
              <a:t>our</a:t>
            </a:r>
            <a:r>
              <a:rPr dirty="0" spc="-85"/>
              <a:t> </a:t>
            </a:r>
            <a:r>
              <a:rPr dirty="0"/>
              <a:t>sampling</a:t>
            </a:r>
            <a:r>
              <a:rPr dirty="0" spc="-85"/>
              <a:t> </a:t>
            </a:r>
            <a:r>
              <a:rPr dirty="0"/>
              <a:t>method</a:t>
            </a:r>
            <a:r>
              <a:rPr dirty="0" spc="-85"/>
              <a:t> </a:t>
            </a:r>
            <a:r>
              <a:rPr dirty="0"/>
              <a:t>for</a:t>
            </a:r>
            <a:r>
              <a:rPr dirty="0" spc="-85"/>
              <a:t> </a:t>
            </a:r>
            <a:r>
              <a:rPr dirty="0"/>
              <a:t>a</a:t>
            </a:r>
            <a:r>
              <a:rPr dirty="0" spc="-80"/>
              <a:t> </a:t>
            </a:r>
            <a:r>
              <a:rPr dirty="0" spc="-10"/>
              <a:t>quantitative</a:t>
            </a:r>
            <a:r>
              <a:rPr dirty="0" spc="-85"/>
              <a:t> </a:t>
            </a:r>
            <a:r>
              <a:rPr dirty="0"/>
              <a:t>variable,</a:t>
            </a:r>
            <a:r>
              <a:rPr dirty="0" spc="-85"/>
              <a:t> </a:t>
            </a:r>
            <a:r>
              <a:rPr dirty="0"/>
              <a:t>we</a:t>
            </a:r>
            <a:r>
              <a:rPr dirty="0" spc="-85"/>
              <a:t> </a:t>
            </a:r>
            <a:r>
              <a:rPr dirty="0"/>
              <a:t>want</a:t>
            </a:r>
            <a:r>
              <a:rPr dirty="0" spc="-85"/>
              <a:t> </a:t>
            </a:r>
            <a:r>
              <a:rPr dirty="0"/>
              <a:t>to</a:t>
            </a:r>
            <a:r>
              <a:rPr dirty="0" spc="-85"/>
              <a:t> </a:t>
            </a:r>
            <a:r>
              <a:rPr dirty="0" spc="-25"/>
              <a:t>see </a:t>
            </a:r>
            <a:r>
              <a:rPr dirty="0"/>
              <a:t>whether</a:t>
            </a:r>
            <a:r>
              <a:rPr dirty="0" spc="-110"/>
              <a:t> </a:t>
            </a:r>
            <a:r>
              <a:rPr dirty="0"/>
              <a:t>the</a:t>
            </a:r>
            <a:r>
              <a:rPr dirty="0" spc="-110"/>
              <a:t> </a:t>
            </a:r>
            <a:r>
              <a:rPr dirty="0"/>
              <a:t>means</a:t>
            </a:r>
            <a:r>
              <a:rPr dirty="0" spc="-105"/>
              <a:t> </a:t>
            </a:r>
            <a:r>
              <a:rPr dirty="0"/>
              <a:t>from</a:t>
            </a:r>
            <a:r>
              <a:rPr dirty="0" spc="-110"/>
              <a:t> </a:t>
            </a:r>
            <a:r>
              <a:rPr dirty="0" spc="-10"/>
              <a:t>diﬀerent</a:t>
            </a:r>
            <a:r>
              <a:rPr dirty="0" spc="-105"/>
              <a:t> </a:t>
            </a:r>
            <a:r>
              <a:rPr dirty="0"/>
              <a:t>samples</a:t>
            </a:r>
            <a:r>
              <a:rPr dirty="0" spc="-110"/>
              <a:t> </a:t>
            </a:r>
            <a:r>
              <a:rPr dirty="0" spc="-10"/>
              <a:t>center</a:t>
            </a:r>
            <a:r>
              <a:rPr dirty="0" spc="-105"/>
              <a:t> </a:t>
            </a:r>
            <a:r>
              <a:rPr dirty="0"/>
              <a:t>around</a:t>
            </a:r>
            <a:r>
              <a:rPr dirty="0" spc="-110"/>
              <a:t> </a:t>
            </a:r>
            <a:r>
              <a:rPr dirty="0"/>
              <a:t>the</a:t>
            </a:r>
            <a:r>
              <a:rPr dirty="0" spc="-105"/>
              <a:t> </a:t>
            </a:r>
            <a:r>
              <a:rPr dirty="0"/>
              <a:t>population</a:t>
            </a:r>
            <a:r>
              <a:rPr dirty="0" spc="-110"/>
              <a:t> </a:t>
            </a:r>
            <a:r>
              <a:rPr dirty="0" spc="-20"/>
              <a:t>mean.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13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19988"/>
            <a:ext cx="17691100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What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term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use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describe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sampling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method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where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the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statistic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centers</a:t>
            </a:r>
            <a:r>
              <a:rPr dirty="0" sz="4100" spc="-10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around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10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population</a:t>
            </a:r>
            <a:r>
              <a:rPr dirty="0" sz="4100" spc="-10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mean?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1012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dirty="0" spc="-105"/>
              <a:t>To</a:t>
            </a:r>
            <a:r>
              <a:rPr dirty="0" spc="-85"/>
              <a:t> </a:t>
            </a:r>
            <a:r>
              <a:rPr dirty="0"/>
              <a:t>evaluate</a:t>
            </a:r>
            <a:r>
              <a:rPr dirty="0" spc="-85"/>
              <a:t> </a:t>
            </a:r>
            <a:r>
              <a:rPr dirty="0"/>
              <a:t>our</a:t>
            </a:r>
            <a:r>
              <a:rPr dirty="0" spc="-85"/>
              <a:t> </a:t>
            </a:r>
            <a:r>
              <a:rPr dirty="0"/>
              <a:t>sampling</a:t>
            </a:r>
            <a:r>
              <a:rPr dirty="0" spc="-85"/>
              <a:t> </a:t>
            </a:r>
            <a:r>
              <a:rPr dirty="0"/>
              <a:t>method</a:t>
            </a:r>
            <a:r>
              <a:rPr dirty="0" spc="-85"/>
              <a:t> </a:t>
            </a:r>
            <a:r>
              <a:rPr dirty="0"/>
              <a:t>for</a:t>
            </a:r>
            <a:r>
              <a:rPr dirty="0" spc="-85"/>
              <a:t> </a:t>
            </a:r>
            <a:r>
              <a:rPr dirty="0"/>
              <a:t>a</a:t>
            </a:r>
            <a:r>
              <a:rPr dirty="0" spc="-80"/>
              <a:t> </a:t>
            </a:r>
            <a:r>
              <a:rPr dirty="0" spc="-10"/>
              <a:t>quantitative</a:t>
            </a:r>
            <a:r>
              <a:rPr dirty="0" spc="-85"/>
              <a:t> </a:t>
            </a:r>
            <a:r>
              <a:rPr dirty="0"/>
              <a:t>variable,</a:t>
            </a:r>
            <a:r>
              <a:rPr dirty="0" spc="-85"/>
              <a:t> </a:t>
            </a:r>
            <a:r>
              <a:rPr dirty="0"/>
              <a:t>we</a:t>
            </a:r>
            <a:r>
              <a:rPr dirty="0" spc="-85"/>
              <a:t> </a:t>
            </a:r>
            <a:r>
              <a:rPr dirty="0"/>
              <a:t>want</a:t>
            </a:r>
            <a:r>
              <a:rPr dirty="0" spc="-85"/>
              <a:t> </a:t>
            </a:r>
            <a:r>
              <a:rPr dirty="0"/>
              <a:t>to</a:t>
            </a:r>
            <a:r>
              <a:rPr dirty="0" spc="-85"/>
              <a:t> </a:t>
            </a:r>
            <a:r>
              <a:rPr dirty="0" spc="-25"/>
              <a:t>see </a:t>
            </a:r>
            <a:r>
              <a:rPr dirty="0"/>
              <a:t>whether</a:t>
            </a:r>
            <a:r>
              <a:rPr dirty="0" spc="-110"/>
              <a:t> </a:t>
            </a:r>
            <a:r>
              <a:rPr dirty="0"/>
              <a:t>the</a:t>
            </a:r>
            <a:r>
              <a:rPr dirty="0" spc="-110"/>
              <a:t> </a:t>
            </a:r>
            <a:r>
              <a:rPr dirty="0"/>
              <a:t>means</a:t>
            </a:r>
            <a:r>
              <a:rPr dirty="0" spc="-105"/>
              <a:t> </a:t>
            </a:r>
            <a:r>
              <a:rPr dirty="0"/>
              <a:t>from</a:t>
            </a:r>
            <a:r>
              <a:rPr dirty="0" spc="-110"/>
              <a:t> </a:t>
            </a:r>
            <a:r>
              <a:rPr dirty="0" spc="-10"/>
              <a:t>diﬀerent</a:t>
            </a:r>
            <a:r>
              <a:rPr dirty="0" spc="-105"/>
              <a:t> </a:t>
            </a:r>
            <a:r>
              <a:rPr dirty="0"/>
              <a:t>samples</a:t>
            </a:r>
            <a:r>
              <a:rPr dirty="0" spc="-110"/>
              <a:t> </a:t>
            </a:r>
            <a:r>
              <a:rPr dirty="0" spc="-10"/>
              <a:t>center</a:t>
            </a:r>
            <a:r>
              <a:rPr dirty="0" spc="-105"/>
              <a:t> </a:t>
            </a:r>
            <a:r>
              <a:rPr dirty="0"/>
              <a:t>around</a:t>
            </a:r>
            <a:r>
              <a:rPr dirty="0" spc="-110"/>
              <a:t> </a:t>
            </a:r>
            <a:r>
              <a:rPr dirty="0"/>
              <a:t>the</a:t>
            </a:r>
            <a:r>
              <a:rPr dirty="0" spc="-105"/>
              <a:t> </a:t>
            </a:r>
            <a:r>
              <a:rPr dirty="0"/>
              <a:t>population</a:t>
            </a:r>
            <a:r>
              <a:rPr dirty="0" spc="-110"/>
              <a:t> </a:t>
            </a:r>
            <a:r>
              <a:rPr dirty="0" spc="-20"/>
              <a:t>mean.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14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19988"/>
            <a:ext cx="17691100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What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term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use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describe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sampling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method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where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the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statistic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centers</a:t>
            </a:r>
            <a:r>
              <a:rPr dirty="0" sz="4100" spc="-10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around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10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population</a:t>
            </a:r>
            <a:r>
              <a:rPr dirty="0" sz="4100" spc="-10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mean?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9249" y="-61087"/>
            <a:ext cx="18203545" cy="3035300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algn="ctr" marL="109855">
              <a:lnSpc>
                <a:spcPct val="100000"/>
              </a:lnSpc>
              <a:spcBef>
                <a:spcPts val="1705"/>
              </a:spcBef>
            </a:pPr>
            <a:r>
              <a:rPr dirty="0" sz="4100" b="1">
                <a:solidFill>
                  <a:srgbClr val="FFFFFF"/>
                </a:solidFill>
                <a:latin typeface="Source Sans 3 Semibold"/>
                <a:cs typeface="Source Sans 3 Semibold"/>
              </a:rPr>
              <a:t>EXERCISE</a:t>
            </a:r>
            <a:r>
              <a:rPr dirty="0" sz="4100" spc="-1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4100" spc="-25" b="1">
                <a:solidFill>
                  <a:srgbClr val="FFFFFF"/>
                </a:solidFill>
                <a:latin typeface="Source Sans 3 Semibold"/>
                <a:cs typeface="Source Sans 3 Semibold"/>
              </a:rPr>
              <a:t>15</a:t>
            </a:r>
            <a:endParaRPr sz="4100">
              <a:latin typeface="Source Sans 3 Semibold"/>
              <a:cs typeface="Source Sans 3 Semibold"/>
            </a:endParaRPr>
          </a:p>
          <a:p>
            <a:pPr marL="12700" marR="5080">
              <a:lnSpc>
                <a:spcPct val="108200"/>
              </a:lnSpc>
              <a:spcBef>
                <a:spcPts val="12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Open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41AFFA"/>
                </a:solidFill>
                <a:latin typeface="Source Sans 3"/>
                <a:cs typeface="Source Sans 3"/>
                <a:hlinkClick r:id="rId2"/>
              </a:rPr>
              <a:t>Sampling</a:t>
            </a:r>
            <a:r>
              <a:rPr dirty="0" sz="4100" spc="-65">
                <a:solidFill>
                  <a:srgbClr val="41AFFA"/>
                </a:solidFill>
                <a:latin typeface="Source Sans 3"/>
                <a:cs typeface="Source Sans 3"/>
                <a:hlinkClick r:id="rId2"/>
              </a:rPr>
              <a:t> </a:t>
            </a:r>
            <a:r>
              <a:rPr dirty="0" sz="4100">
                <a:solidFill>
                  <a:srgbClr val="41AFFA"/>
                </a:solidFill>
                <a:latin typeface="Source Sans 3"/>
                <a:cs typeface="Source Sans 3"/>
                <a:hlinkClick r:id="rId2"/>
              </a:rPr>
              <a:t>Words</a:t>
            </a:r>
            <a:r>
              <a:rPr dirty="0" sz="4100" spc="-65">
                <a:solidFill>
                  <a:srgbClr val="41AFFA"/>
                </a:solidFill>
                <a:latin typeface="Source Sans 3"/>
                <a:cs typeface="Source Sans 3"/>
                <a:hlinkClick r:id="rId2"/>
              </a:rPr>
              <a:t> </a:t>
            </a:r>
            <a:r>
              <a:rPr dirty="0" sz="4100">
                <a:solidFill>
                  <a:srgbClr val="41AFFA"/>
                </a:solidFill>
                <a:latin typeface="Source Sans 3"/>
                <a:cs typeface="Source Sans 3"/>
                <a:hlinkClick r:id="rId2"/>
              </a:rPr>
              <a:t>applet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.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Make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sure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that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Variable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set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"Length."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Check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Show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Sampling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Options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box,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change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size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5,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press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Draw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Samples.</a:t>
            </a:r>
            <a:endParaRPr sz="4100">
              <a:latin typeface="Source Sans 3"/>
              <a:cs typeface="Source Sans 3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4662" rIns="0" bIns="0" rtlCol="0" vert="horz">
            <a:spAutoFit/>
          </a:bodyPr>
          <a:lstStyle/>
          <a:p>
            <a:pPr marL="12700" marR="5080">
              <a:lnSpc>
                <a:spcPct val="107700"/>
              </a:lnSpc>
              <a:spcBef>
                <a:spcPts val="50"/>
              </a:spcBef>
            </a:pPr>
            <a:r>
              <a:rPr dirty="0"/>
              <a:t>Notice</a:t>
            </a:r>
            <a:r>
              <a:rPr dirty="0" spc="-65"/>
              <a:t> </a:t>
            </a:r>
            <a:r>
              <a:rPr dirty="0"/>
              <a:t>that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graph</a:t>
            </a:r>
            <a:r>
              <a:rPr dirty="0" spc="-65"/>
              <a:t> </a:t>
            </a:r>
            <a:r>
              <a:rPr dirty="0"/>
              <a:t>on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spc="-10"/>
              <a:t>left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applet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 spc="-10"/>
              <a:t>[REF=TODO]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spc="-10"/>
              <a:t>population,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graph</a:t>
            </a:r>
            <a:r>
              <a:rPr dirty="0" spc="-50"/>
              <a:t> </a:t>
            </a:r>
            <a:r>
              <a:rPr dirty="0"/>
              <a:t>in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middle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/>
              <a:t>your</a:t>
            </a:r>
            <a:r>
              <a:rPr dirty="0" spc="-50"/>
              <a:t> </a:t>
            </a:r>
            <a:r>
              <a:rPr dirty="0"/>
              <a:t>sample,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mean</a:t>
            </a:r>
            <a:r>
              <a:rPr dirty="0" spc="-5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this</a:t>
            </a:r>
            <a:r>
              <a:rPr dirty="0" spc="-55"/>
              <a:t> </a:t>
            </a:r>
            <a:r>
              <a:rPr dirty="0"/>
              <a:t>sample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placed</a:t>
            </a:r>
            <a:r>
              <a:rPr dirty="0" spc="-55"/>
              <a:t> </a:t>
            </a:r>
            <a:r>
              <a:rPr dirty="0"/>
              <a:t>in</a:t>
            </a:r>
            <a:r>
              <a:rPr dirty="0" spc="-50"/>
              <a:t> </a:t>
            </a:r>
            <a:r>
              <a:rPr dirty="0" spc="-25"/>
              <a:t>the </a:t>
            </a:r>
            <a:r>
              <a:rPr dirty="0"/>
              <a:t>graph</a:t>
            </a:r>
            <a:r>
              <a:rPr dirty="0" spc="-65"/>
              <a:t> </a:t>
            </a:r>
            <a:r>
              <a:rPr dirty="0"/>
              <a:t>on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right.</a:t>
            </a:r>
            <a:r>
              <a:rPr dirty="0" spc="-60"/>
              <a:t> </a:t>
            </a:r>
            <a:r>
              <a:rPr dirty="0"/>
              <a:t>Fill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/>
              <a:t>your</a:t>
            </a:r>
            <a:r>
              <a:rPr dirty="0" spc="-60"/>
              <a:t> </a:t>
            </a:r>
            <a:r>
              <a:rPr dirty="0"/>
              <a:t>results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middle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right</a:t>
            </a:r>
            <a:r>
              <a:rPr dirty="0" spc="-60"/>
              <a:t> </a:t>
            </a:r>
            <a:r>
              <a:rPr dirty="0"/>
              <a:t>most</a:t>
            </a:r>
            <a:r>
              <a:rPr dirty="0" spc="-60"/>
              <a:t> </a:t>
            </a:r>
            <a:r>
              <a:rPr dirty="0"/>
              <a:t>graphs</a:t>
            </a:r>
            <a:r>
              <a:rPr dirty="0" spc="-60"/>
              <a:t> </a:t>
            </a:r>
            <a:r>
              <a:rPr dirty="0" spc="-25"/>
              <a:t>in </a:t>
            </a:r>
            <a:r>
              <a:rPr dirty="0" spc="-10"/>
              <a:t>[REF=TODO]</a:t>
            </a:r>
            <a:r>
              <a:rPr dirty="0" spc="-65"/>
              <a:t> </a:t>
            </a:r>
            <a:r>
              <a:rPr dirty="0"/>
              <a:t>.</a:t>
            </a:r>
            <a:r>
              <a:rPr dirty="0" spc="-65"/>
              <a:t> </a:t>
            </a:r>
            <a:r>
              <a:rPr dirty="0"/>
              <a:t>Also</a:t>
            </a:r>
            <a:r>
              <a:rPr dirty="0" spc="-60"/>
              <a:t> </a:t>
            </a:r>
            <a:r>
              <a:rPr dirty="0"/>
              <a:t>indicate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value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sample</a:t>
            </a:r>
            <a:r>
              <a:rPr dirty="0" spc="-60"/>
              <a:t> </a:t>
            </a:r>
            <a:r>
              <a:rPr dirty="0"/>
              <a:t>mean</a:t>
            </a:r>
            <a:r>
              <a:rPr dirty="0" spc="-65"/>
              <a:t> </a:t>
            </a:r>
            <a:r>
              <a:rPr dirty="0"/>
              <a:t>that</a:t>
            </a:r>
            <a:r>
              <a:rPr dirty="0" spc="-60"/>
              <a:t> </a:t>
            </a:r>
            <a:r>
              <a:rPr dirty="0"/>
              <a:t>you</a:t>
            </a:r>
            <a:r>
              <a:rPr dirty="0" spc="-65"/>
              <a:t> </a:t>
            </a:r>
            <a:r>
              <a:rPr dirty="0" spc="-10"/>
              <a:t>obtained.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499" rIns="0" bIns="0" rtlCol="0" vert="horz">
            <a:spAutoFit/>
          </a:bodyPr>
          <a:lstStyle/>
          <a:p>
            <a:pPr marL="792988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FIGURE</a:t>
            </a:r>
            <a:r>
              <a:rPr dirty="0" spc="-15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16: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9" y="1457325"/>
            <a:ext cx="8458199" cy="76199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30249" y="9417050"/>
            <a:ext cx="6383655" cy="5054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Outputs</a:t>
            </a:r>
            <a:r>
              <a:rPr dirty="0" sz="3150" spc="-2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3150" spc="-2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2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Sampling</a:t>
            </a:r>
            <a:r>
              <a:rPr dirty="0" sz="3150" spc="-2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Words</a:t>
            </a:r>
            <a:r>
              <a:rPr dirty="0" sz="3150" spc="-2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Source Sans 3"/>
                <a:cs typeface="Source Sans 3"/>
              </a:rPr>
              <a:t>applet</a:t>
            </a:r>
            <a:endParaRPr sz="3150">
              <a:latin typeface="Source Sans 3"/>
              <a:cs typeface="Source Sans 3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9249" y="-61087"/>
            <a:ext cx="18275300" cy="3711575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algn="ctr" marL="38100">
              <a:lnSpc>
                <a:spcPct val="100000"/>
              </a:lnSpc>
              <a:spcBef>
                <a:spcPts val="1705"/>
              </a:spcBef>
            </a:pPr>
            <a:r>
              <a:rPr dirty="0" sz="4100" b="1">
                <a:solidFill>
                  <a:srgbClr val="FFFFFF"/>
                </a:solidFill>
                <a:latin typeface="Source Sans 3 Semibold"/>
                <a:cs typeface="Source Sans 3 Semibold"/>
              </a:rPr>
              <a:t>EXERCISE</a:t>
            </a:r>
            <a:r>
              <a:rPr dirty="0" sz="4100" spc="-1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4100" spc="-25" b="1">
                <a:solidFill>
                  <a:srgbClr val="FFFFFF"/>
                </a:solidFill>
                <a:latin typeface="Source Sans 3 Semibold"/>
                <a:cs typeface="Source Sans 3 Semibold"/>
              </a:rPr>
              <a:t>17</a:t>
            </a:r>
            <a:endParaRPr sz="4100">
              <a:latin typeface="Source Sans 3 Semibold"/>
              <a:cs typeface="Source Sans 3 Semibold"/>
            </a:endParaRPr>
          </a:p>
          <a:p>
            <a:pPr marL="12700" marR="5080">
              <a:lnSpc>
                <a:spcPct val="108200"/>
              </a:lnSpc>
              <a:spcBef>
                <a:spcPts val="12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If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were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repeat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process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#9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thousands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times,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predict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behavior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the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means—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graph</a:t>
            </a:r>
            <a:r>
              <a:rPr dirty="0" sz="410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all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way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right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410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applet.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(Shape?</a:t>
            </a:r>
            <a:r>
              <a:rPr dirty="0" sz="4100" spc="-114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Center?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Variability?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Compared</a:t>
            </a:r>
            <a:r>
              <a:rPr dirty="0" sz="4100" spc="-114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population?)</a:t>
            </a:r>
            <a:r>
              <a:rPr dirty="0" sz="4100" spc="-114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Sketch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your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prediction,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changing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horizontal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axis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scale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if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necessary.</a:t>
            </a:r>
            <a:endParaRPr sz="4100">
              <a:latin typeface="Source Sans 3"/>
              <a:cs typeface="Source Sans 3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18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19988"/>
            <a:ext cx="17937480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Change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Number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samples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from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1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9999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(for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10,000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samples)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press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Draw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Samples.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9249" y="-61087"/>
            <a:ext cx="18264505" cy="3711575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algn="ctr" marL="48895">
              <a:lnSpc>
                <a:spcPct val="100000"/>
              </a:lnSpc>
              <a:spcBef>
                <a:spcPts val="1705"/>
              </a:spcBef>
            </a:pPr>
            <a:r>
              <a:rPr dirty="0" sz="4100" b="1">
                <a:solidFill>
                  <a:srgbClr val="FFFFFF"/>
                </a:solidFill>
                <a:latin typeface="Source Sans 3 Semibold"/>
                <a:cs typeface="Source Sans 3 Semibold"/>
              </a:rPr>
              <a:t>EXERCISE</a:t>
            </a:r>
            <a:r>
              <a:rPr dirty="0" sz="4100" spc="-1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4100" spc="-20" b="1">
                <a:solidFill>
                  <a:srgbClr val="FFFFFF"/>
                </a:solidFill>
                <a:latin typeface="Source Sans 3 Semibold"/>
                <a:cs typeface="Source Sans 3 Semibold"/>
              </a:rPr>
              <a:t>18A:</a:t>
            </a:r>
            <a:endParaRPr sz="4100">
              <a:latin typeface="Source Sans 3 Semibold"/>
              <a:cs typeface="Source Sans 3 Semibold"/>
            </a:endParaRPr>
          </a:p>
          <a:p>
            <a:pPr marL="12700" marR="5080">
              <a:lnSpc>
                <a:spcPct val="108200"/>
              </a:lnSpc>
              <a:spcBef>
                <a:spcPts val="1200"/>
              </a:spcBef>
            </a:pP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Create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sketch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box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below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—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including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carefully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labeling</a:t>
            </a:r>
            <a:r>
              <a:rPr dirty="0" sz="4100" spc="102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horizontal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axis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indicating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what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each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dot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graph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represents.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(Hint: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How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many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dots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have?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What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would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you/the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applet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add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one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more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dot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the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graph?)</a:t>
            </a:r>
            <a:endParaRPr sz="4100">
              <a:latin typeface="Source Sans 3"/>
              <a:cs typeface="Source Sans 3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20" b="1">
                <a:latin typeface="Source Sans 3 Semibold"/>
                <a:cs typeface="Source Sans 3 Semibold"/>
              </a:rPr>
              <a:t>18B: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19988"/>
            <a:ext cx="18154650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Describe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shape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means.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How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does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it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compare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the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shape</a:t>
            </a:r>
            <a:r>
              <a:rPr dirty="0" sz="410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population?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20" b="1">
                <a:latin typeface="Source Sans 3 Semibold"/>
                <a:cs typeface="Source Sans 3 Semibold"/>
              </a:rPr>
              <a:t>18C: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19988"/>
            <a:ext cx="16569055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What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sampling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means?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How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does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it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compare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population?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20" b="1">
                <a:latin typeface="Source Sans 3 Semibold"/>
                <a:cs typeface="Source Sans 3 Semibold"/>
              </a:rPr>
              <a:t>18D: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19988"/>
            <a:ext cx="17891125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What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standard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deviation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sampling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means?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How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does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it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compare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standard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deviation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population?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19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19988"/>
            <a:ext cx="16797020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Does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simple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random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sampling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for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quantitative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data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appear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unbiased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sampling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method?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How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are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deciding?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20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19988"/>
            <a:ext cx="17405985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Suppose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wanted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less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sample-</a:t>
            </a:r>
            <a:r>
              <a:rPr dirty="0" sz="4100" spc="-30">
                <a:solidFill>
                  <a:srgbClr val="FFFFFF"/>
                </a:solidFill>
                <a:latin typeface="Source Sans 3"/>
                <a:cs typeface="Source Sans 3"/>
              </a:rPr>
              <a:t>to-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variation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means.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What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would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change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about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sampling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process?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56922" y="143510"/>
            <a:ext cx="2698115" cy="6496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REMARK</a:t>
            </a:r>
            <a:r>
              <a:rPr dirty="0" spc="-15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21: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51532" y="5334634"/>
            <a:ext cx="17906365" cy="1054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1160" marR="5080" indent="-379095">
              <a:lnSpc>
                <a:spcPct val="107100"/>
              </a:lnSpc>
              <a:spcBef>
                <a:spcPts val="100"/>
              </a:spcBef>
            </a:pP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3.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Be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Source Sans 3"/>
                <a:cs typeface="Source Sans 3"/>
              </a:rPr>
              <a:t>approximately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normal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when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size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large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(by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b="1" i="1">
                <a:solidFill>
                  <a:srgbClr val="FFFFFF"/>
                </a:solidFill>
                <a:latin typeface="Source Sans 3 Semibold"/>
                <a:cs typeface="Source Sans 3 Semibold"/>
              </a:rPr>
              <a:t>Central</a:t>
            </a:r>
            <a:r>
              <a:rPr dirty="0" sz="3150" spc="-55" b="1" i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3150" b="1" i="1">
                <a:solidFill>
                  <a:srgbClr val="FFFFFF"/>
                </a:solidFill>
                <a:latin typeface="Source Sans 3 Semibold"/>
                <a:cs typeface="Source Sans 3 Semibold"/>
              </a:rPr>
              <a:t>Limit</a:t>
            </a:r>
            <a:r>
              <a:rPr dirty="0" sz="3150" spc="-55" b="1" i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3150" b="1" i="1">
                <a:solidFill>
                  <a:srgbClr val="FFFFFF"/>
                </a:solidFill>
                <a:latin typeface="Source Sans 3 Semibold"/>
                <a:cs typeface="Source Sans 3 Semibold"/>
              </a:rPr>
              <a:t>Theorem</a:t>
            </a:r>
            <a:r>
              <a:rPr dirty="0" sz="3150" spc="-30" b="1" i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or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if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3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Source Sans 3"/>
                <a:cs typeface="Source Sans 3"/>
              </a:rPr>
              <a:t>population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315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normally</a:t>
            </a:r>
            <a:r>
              <a:rPr dirty="0" sz="315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Source Sans 3"/>
                <a:cs typeface="Source Sans 3"/>
              </a:rPr>
              <a:t>distributed)</a:t>
            </a:r>
            <a:endParaRPr sz="3150">
              <a:latin typeface="Source Sans 3"/>
              <a:cs typeface="Source Sans 3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9249" y="804984"/>
            <a:ext cx="17894300" cy="3422015"/>
          </a:xfrm>
          <a:prstGeom prst="rect">
            <a:avLst/>
          </a:prstGeom>
        </p:spPr>
        <p:txBody>
          <a:bodyPr wrap="square" lIns="0" tIns="166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10"/>
              </a:spcBef>
            </a:pPr>
            <a:r>
              <a:rPr dirty="0" sz="3150" b="1">
                <a:solidFill>
                  <a:srgbClr val="FFFFFF"/>
                </a:solidFill>
                <a:latin typeface="Source Sans 3 Semibold"/>
                <a:cs typeface="Source Sans 3 Semibold"/>
              </a:rPr>
              <a:t>KEY</a:t>
            </a:r>
            <a:r>
              <a:rPr dirty="0" sz="3150" spc="-25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3150" b="1">
                <a:solidFill>
                  <a:srgbClr val="FFFFFF"/>
                </a:solidFill>
                <a:latin typeface="Source Sans 3 Semibold"/>
                <a:cs typeface="Source Sans 3 Semibold"/>
              </a:rPr>
              <a:t>IDEA</a:t>
            </a:r>
            <a:r>
              <a:rPr dirty="0" sz="3150" spc="-2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3150" spc="-50" b="1">
                <a:solidFill>
                  <a:srgbClr val="FFFFFF"/>
                </a:solidFill>
                <a:latin typeface="Source Sans 3 Semibold"/>
                <a:cs typeface="Source Sans 3 Semibold"/>
              </a:rPr>
              <a:t>.</a:t>
            </a:r>
            <a:endParaRPr sz="3150">
              <a:latin typeface="Source Sans 3 Semibold"/>
              <a:cs typeface="Source Sans 3 Semibold"/>
            </a:endParaRPr>
          </a:p>
          <a:p>
            <a:pPr marL="12700" marR="5080">
              <a:lnSpc>
                <a:spcPct val="108200"/>
              </a:lnSpc>
              <a:spcBef>
                <a:spcPts val="1165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When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taking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random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samples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from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large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population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(more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than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20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times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size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sample),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will</a:t>
            </a:r>
            <a:endParaRPr sz="4100">
              <a:latin typeface="Source Sans 3"/>
              <a:cs typeface="Source Sans 3"/>
            </a:endParaRPr>
          </a:p>
          <a:p>
            <a:pPr marL="792480" indent="-377825">
              <a:lnSpc>
                <a:spcPct val="100000"/>
              </a:lnSpc>
              <a:spcBef>
                <a:spcPts val="1830"/>
              </a:spcBef>
              <a:buAutoNum type="arabicPeriod"/>
              <a:tabLst>
                <a:tab pos="792480" algn="l"/>
              </a:tabLst>
            </a:pP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Center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around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population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mean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25">
                <a:solidFill>
                  <a:srgbClr val="FFFFFF"/>
                </a:solidFill>
                <a:latin typeface="Source Sans 3"/>
                <a:cs typeface="Source Sans 3"/>
              </a:rPr>
              <a:t>(</a:t>
            </a:r>
            <a:r>
              <a:rPr dirty="0" sz="3350" spc="-25">
                <a:solidFill>
                  <a:srgbClr val="FFFFFF"/>
                </a:solidFill>
                <a:latin typeface="Verdana"/>
                <a:cs typeface="Verdana"/>
              </a:rPr>
              <a:t>μ</a:t>
            </a:r>
            <a:r>
              <a:rPr dirty="0" sz="3150" spc="-25">
                <a:solidFill>
                  <a:srgbClr val="FFFFFF"/>
                </a:solidFill>
                <a:latin typeface="Source Sans 3"/>
                <a:cs typeface="Source Sans 3"/>
              </a:rPr>
              <a:t>)</a:t>
            </a:r>
            <a:endParaRPr sz="3150">
              <a:latin typeface="Source Sans 3"/>
              <a:cs typeface="Source Sans 3"/>
            </a:endParaRPr>
          </a:p>
          <a:p>
            <a:pPr marL="792480" indent="-377825">
              <a:lnSpc>
                <a:spcPct val="100000"/>
              </a:lnSpc>
              <a:spcBef>
                <a:spcPts val="305"/>
              </a:spcBef>
              <a:buAutoNum type="arabicPeriod"/>
              <a:tabLst>
                <a:tab pos="792480" algn="l"/>
              </a:tabLst>
            </a:pP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Have</a:t>
            </a:r>
            <a:r>
              <a:rPr dirty="0" sz="3150" spc="-2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3150" spc="-2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standard</a:t>
            </a:r>
            <a:r>
              <a:rPr dirty="0" sz="3150" spc="-2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deviation</a:t>
            </a:r>
            <a:r>
              <a:rPr dirty="0" sz="3150" spc="-2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smaller</a:t>
            </a:r>
            <a:r>
              <a:rPr dirty="0" sz="3150" spc="-2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than</a:t>
            </a:r>
            <a:r>
              <a:rPr dirty="0" sz="3150" spc="-2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1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Source Sans 3"/>
                <a:cs typeface="Source Sans 3"/>
              </a:rPr>
              <a:t>population,</a:t>
            </a:r>
            <a:endParaRPr sz="3150">
              <a:latin typeface="Source Sans 3"/>
              <a:cs typeface="Source Sans 3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258101" y="4422216"/>
            <a:ext cx="374015" cy="590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700" spc="-5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endParaRPr sz="37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30300" y="4422216"/>
            <a:ext cx="1893570" cy="590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350" spc="190">
                <a:solidFill>
                  <a:srgbClr val="FFFFFF"/>
                </a:solidFill>
                <a:latin typeface="Verdana"/>
                <a:cs typeface="Verdana"/>
              </a:rPr>
              <a:t>SD</a:t>
            </a:r>
            <a:r>
              <a:rPr dirty="0" sz="3700" spc="19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3350" spc="19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dirty="0" sz="3700" spc="19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r>
              <a:rPr dirty="0" sz="37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00" spc="-5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endParaRPr sz="37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204815" y="4118016"/>
            <a:ext cx="5868670" cy="590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700" spc="-80">
                <a:solidFill>
                  <a:srgbClr val="FFFFFF"/>
                </a:solidFill>
                <a:latin typeface="Tahoma"/>
                <a:cs typeface="Tahoma"/>
              </a:rPr>
              <a:t>population</a:t>
            </a:r>
            <a:r>
              <a:rPr dirty="0" sz="3700" spc="-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00" spc="-105">
                <a:solidFill>
                  <a:srgbClr val="FFFFFF"/>
                </a:solidFill>
                <a:latin typeface="Tahoma"/>
                <a:cs typeface="Tahoma"/>
              </a:rPr>
              <a:t>standard</a:t>
            </a:r>
            <a:r>
              <a:rPr dirty="0" sz="3700" spc="-229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00" spc="-45">
                <a:solidFill>
                  <a:srgbClr val="FFFFFF"/>
                </a:solidFill>
                <a:latin typeface="Tahoma"/>
                <a:cs typeface="Tahoma"/>
              </a:rPr>
              <a:t>deviation</a:t>
            </a:r>
            <a:endParaRPr sz="37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24065" y="4697907"/>
            <a:ext cx="2630805" cy="6711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00">
                <a:solidFill>
                  <a:srgbClr val="FFFFFF"/>
                </a:solidFill>
                <a:latin typeface="Arial"/>
                <a:cs typeface="Arial"/>
              </a:rPr>
              <a:t>√</a:t>
            </a:r>
            <a:r>
              <a:rPr dirty="0" sz="3700">
                <a:solidFill>
                  <a:srgbClr val="FFFFFF"/>
                </a:solidFill>
                <a:latin typeface="Tahoma"/>
                <a:cs typeface="Tahoma"/>
              </a:rPr>
              <a:t>sample</a:t>
            </a:r>
            <a:r>
              <a:rPr dirty="0" sz="37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700" spc="-120">
                <a:solidFill>
                  <a:srgbClr val="FFFFFF"/>
                </a:solidFill>
                <a:latin typeface="Tahoma"/>
                <a:cs typeface="Tahoma"/>
              </a:rPr>
              <a:t>size</a:t>
            </a:r>
            <a:endParaRPr sz="370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190874" y="4791061"/>
            <a:ext cx="5895975" cy="19050"/>
          </a:xfrm>
          <a:custGeom>
            <a:avLst/>
            <a:gdLst/>
            <a:ahLst/>
            <a:cxnLst/>
            <a:rect l="l" t="t" r="r" b="b"/>
            <a:pathLst>
              <a:path w="5895975" h="19050">
                <a:moveTo>
                  <a:pt x="5895974" y="19049"/>
                </a:moveTo>
                <a:lnTo>
                  <a:pt x="0" y="19049"/>
                </a:lnTo>
                <a:lnTo>
                  <a:pt x="0" y="0"/>
                </a:lnTo>
                <a:lnTo>
                  <a:pt x="5895974" y="0"/>
                </a:lnTo>
                <a:lnTo>
                  <a:pt x="5895974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0018017" y="4159981"/>
            <a:ext cx="281305" cy="539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350" spc="-50">
                <a:solidFill>
                  <a:srgbClr val="FFFFFF"/>
                </a:solidFill>
                <a:latin typeface="Verdana"/>
                <a:cs typeface="Verdana"/>
              </a:rPr>
              <a:t>σ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817694" y="4727016"/>
            <a:ext cx="666115" cy="590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3753" sz="5550" spc="112">
                <a:solidFill>
                  <a:srgbClr val="FFFFFF"/>
                </a:solidFill>
                <a:latin typeface="Tahoma"/>
                <a:cs typeface="Tahoma"/>
              </a:rPr>
              <a:t>√</a:t>
            </a:r>
            <a:r>
              <a:rPr dirty="0" sz="3350" spc="75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3350">
              <a:latin typeface="Verdana"/>
              <a:cs typeface="Verdan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9801224" y="4791061"/>
            <a:ext cx="704850" cy="19050"/>
          </a:xfrm>
          <a:custGeom>
            <a:avLst/>
            <a:gdLst/>
            <a:ahLst/>
            <a:cxnLst/>
            <a:rect l="l" t="t" r="r" b="b"/>
            <a:pathLst>
              <a:path w="704850" h="19050">
                <a:moveTo>
                  <a:pt x="704849" y="19049"/>
                </a:moveTo>
                <a:lnTo>
                  <a:pt x="0" y="19049"/>
                </a:lnTo>
                <a:lnTo>
                  <a:pt x="0" y="0"/>
                </a:lnTo>
                <a:lnTo>
                  <a:pt x="704849" y="0"/>
                </a:lnTo>
                <a:lnTo>
                  <a:pt x="70484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931" rIns="0" bIns="0" rtlCol="0" vert="horz">
            <a:spAutoFit/>
          </a:bodyPr>
          <a:lstStyle/>
          <a:p>
            <a:pPr marL="12700" marR="5080">
              <a:lnSpc>
                <a:spcPct val="106800"/>
              </a:lnSpc>
              <a:spcBef>
                <a:spcPts val="70"/>
              </a:spcBef>
            </a:pPr>
            <a:r>
              <a:rPr dirty="0"/>
              <a:t>Like</a:t>
            </a:r>
            <a:r>
              <a:rPr dirty="0" spc="-50"/>
              <a:t> </a:t>
            </a:r>
            <a:r>
              <a:rPr dirty="0"/>
              <a:t>with</a:t>
            </a:r>
            <a:r>
              <a:rPr dirty="0" spc="-50"/>
              <a:t> </a:t>
            </a:r>
            <a:r>
              <a:rPr dirty="0" spc="-10"/>
              <a:t>proportions,</a:t>
            </a:r>
            <a:r>
              <a:rPr dirty="0" spc="-50"/>
              <a:t> </a:t>
            </a:r>
            <a:r>
              <a:rPr dirty="0"/>
              <a:t>we</a:t>
            </a:r>
            <a:r>
              <a:rPr dirty="0" spc="-50"/>
              <a:t> </a:t>
            </a:r>
            <a:r>
              <a:rPr dirty="0"/>
              <a:t>see</a:t>
            </a:r>
            <a:r>
              <a:rPr dirty="0" spc="-50"/>
              <a:t> </a:t>
            </a:r>
            <a:r>
              <a:rPr dirty="0"/>
              <a:t>that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sample</a:t>
            </a:r>
            <a:r>
              <a:rPr dirty="0" spc="-50"/>
              <a:t> </a:t>
            </a:r>
            <a:r>
              <a:rPr dirty="0"/>
              <a:t>mean</a:t>
            </a:r>
            <a:r>
              <a:rPr dirty="0" spc="-50"/>
              <a:t> </a:t>
            </a:r>
            <a:r>
              <a:rPr dirty="0"/>
              <a:t>(</a:t>
            </a:r>
            <a:r>
              <a:rPr dirty="0" sz="4350">
                <a:latin typeface="Verdana"/>
                <a:cs typeface="Verdana"/>
              </a:rPr>
              <a:t>x</a:t>
            </a:r>
            <a:r>
              <a:rPr dirty="0"/>
              <a:t>)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unbiased</a:t>
            </a:r>
            <a:r>
              <a:rPr dirty="0" spc="-50"/>
              <a:t> </a:t>
            </a:r>
            <a:r>
              <a:rPr dirty="0"/>
              <a:t>for</a:t>
            </a:r>
            <a:r>
              <a:rPr dirty="0" spc="-50"/>
              <a:t> </a:t>
            </a:r>
            <a:r>
              <a:rPr dirty="0" spc="-10"/>
              <a:t>estimating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/>
              <a:t>population</a:t>
            </a:r>
            <a:r>
              <a:rPr dirty="0" spc="-80"/>
              <a:t> </a:t>
            </a:r>
            <a:r>
              <a:rPr dirty="0"/>
              <a:t>mean,</a:t>
            </a:r>
            <a:r>
              <a:rPr dirty="0" spc="-80"/>
              <a:t> </a:t>
            </a:r>
            <a:r>
              <a:rPr dirty="0"/>
              <a:t>but</a:t>
            </a:r>
            <a:r>
              <a:rPr dirty="0" spc="-80"/>
              <a:t> </a:t>
            </a:r>
            <a:r>
              <a:rPr dirty="0"/>
              <a:t>now</a:t>
            </a:r>
            <a:r>
              <a:rPr dirty="0" spc="-80"/>
              <a:t> </a:t>
            </a:r>
            <a:r>
              <a:rPr dirty="0"/>
              <a:t>we</a:t>
            </a:r>
            <a:r>
              <a:rPr dirty="0" spc="-80"/>
              <a:t> </a:t>
            </a:r>
            <a:r>
              <a:rPr dirty="0"/>
              <a:t>have</a:t>
            </a:r>
            <a:r>
              <a:rPr dirty="0" spc="-80"/>
              <a:t> </a:t>
            </a:r>
            <a:r>
              <a:rPr dirty="0"/>
              <a:t>a</a:t>
            </a:r>
            <a:r>
              <a:rPr dirty="0" spc="-80"/>
              <a:t> </a:t>
            </a:r>
            <a:r>
              <a:rPr dirty="0" spc="-10"/>
              <a:t>diﬀerent</a:t>
            </a:r>
            <a:r>
              <a:rPr dirty="0" spc="-85"/>
              <a:t> </a:t>
            </a:r>
            <a:r>
              <a:rPr dirty="0"/>
              <a:t>formula</a:t>
            </a:r>
            <a:r>
              <a:rPr dirty="0" spc="-80"/>
              <a:t> </a:t>
            </a:r>
            <a:r>
              <a:rPr dirty="0"/>
              <a:t>for</a:t>
            </a:r>
            <a:r>
              <a:rPr dirty="0" spc="-80"/>
              <a:t> </a:t>
            </a:r>
            <a:r>
              <a:rPr dirty="0"/>
              <a:t>predicting</a:t>
            </a:r>
            <a:r>
              <a:rPr dirty="0" spc="-80"/>
              <a:t> </a:t>
            </a:r>
            <a:r>
              <a:rPr dirty="0" spc="-25"/>
              <a:t>the </a:t>
            </a:r>
            <a:r>
              <a:rPr dirty="0"/>
              <a:t>standard</a:t>
            </a:r>
            <a:r>
              <a:rPr dirty="0" spc="-75"/>
              <a:t> </a:t>
            </a:r>
            <a:r>
              <a:rPr dirty="0"/>
              <a:t>deviation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10"/>
              <a:t>statistic.</a:t>
            </a:r>
            <a:endParaRPr sz="4350">
              <a:latin typeface="Verdana"/>
              <a:cs typeface="Verdan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22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72185"/>
            <a:ext cx="17174210" cy="135382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 marR="5080">
              <a:lnSpc>
                <a:spcPct val="96100"/>
              </a:lnSpc>
              <a:spcBef>
                <a:spcPts val="285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Use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your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applet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output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verify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that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standard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deviation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means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is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approximately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equal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350" spc="140">
                <a:solidFill>
                  <a:srgbClr val="FFFFFF"/>
                </a:solidFill>
                <a:latin typeface="Verdana"/>
                <a:cs typeface="Verdana"/>
              </a:rPr>
              <a:t>σ</a:t>
            </a:r>
            <a:r>
              <a:rPr dirty="0" sz="4800" spc="14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baseline="-3472" sz="7200" spc="209">
                <a:solidFill>
                  <a:srgbClr val="FFFFFF"/>
                </a:solidFill>
                <a:latin typeface="Tahoma"/>
                <a:cs typeface="Tahoma"/>
              </a:rPr>
              <a:t>√</a:t>
            </a:r>
            <a:r>
              <a:rPr dirty="0" sz="4350" spc="14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endParaRPr sz="4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9249" y="310387"/>
            <a:ext cx="18073370" cy="744537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3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Central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Limit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Theorem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tells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us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that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can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also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assume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that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of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approximately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normal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when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size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large.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How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large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is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large?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cannot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check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number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successes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failures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because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are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working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with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quantitative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variable.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But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similar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manner,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sampling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will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look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normal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long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as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population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not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too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skewed.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increase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size,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means</a:t>
            </a:r>
            <a:r>
              <a:rPr dirty="0" sz="4100" spc="-7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will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look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more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more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like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normal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distribution.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Generally,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if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size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at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least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20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can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assume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that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means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approximately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normal.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also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have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new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case—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means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will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behave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like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normal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for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any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size,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if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population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shape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itself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approximately normal.</a:t>
            </a:r>
            <a:endParaRPr sz="4100">
              <a:latin typeface="Source Sans 3"/>
              <a:cs typeface="Source Sans 3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6379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23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919988"/>
            <a:ext cx="17684750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Next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will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change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size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from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5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10.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Predict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how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this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will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impact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the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shape,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center,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variability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means.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9249" y="-61087"/>
            <a:ext cx="17618710" cy="3711575"/>
          </a:xfrm>
          <a:prstGeom prst="rect">
            <a:avLst/>
          </a:prstGeom>
        </p:spPr>
        <p:txBody>
          <a:bodyPr wrap="square" lIns="0" tIns="216535" rIns="0" bIns="0" rtlCol="0" vert="horz">
            <a:spAutoFit/>
          </a:bodyPr>
          <a:lstStyle/>
          <a:p>
            <a:pPr algn="ctr" marL="694690">
              <a:lnSpc>
                <a:spcPct val="100000"/>
              </a:lnSpc>
              <a:spcBef>
                <a:spcPts val="1705"/>
              </a:spcBef>
            </a:pPr>
            <a:r>
              <a:rPr dirty="0" sz="4100" b="1">
                <a:solidFill>
                  <a:srgbClr val="FFFFFF"/>
                </a:solidFill>
                <a:latin typeface="Source Sans 3 Semibold"/>
                <a:cs typeface="Source Sans 3 Semibold"/>
              </a:rPr>
              <a:t>EXERCISE</a:t>
            </a:r>
            <a:r>
              <a:rPr dirty="0" sz="4100" spc="-10" b="1">
                <a:solidFill>
                  <a:srgbClr val="FFFFFF"/>
                </a:solidFill>
                <a:latin typeface="Source Sans 3 Semibold"/>
                <a:cs typeface="Source Sans 3 Semibold"/>
              </a:rPr>
              <a:t> </a:t>
            </a:r>
            <a:r>
              <a:rPr dirty="0" sz="4100" spc="-25" b="1">
                <a:solidFill>
                  <a:srgbClr val="FFFFFF"/>
                </a:solidFill>
                <a:latin typeface="Source Sans 3 Semibold"/>
                <a:cs typeface="Source Sans 3 Semibold"/>
              </a:rPr>
              <a:t>24</a:t>
            </a:r>
            <a:endParaRPr sz="4100">
              <a:latin typeface="Source Sans 3 Semibold"/>
              <a:cs typeface="Source Sans 3 Semibold"/>
            </a:endParaRPr>
          </a:p>
          <a:p>
            <a:pPr marL="12700" marR="5080">
              <a:lnSpc>
                <a:spcPct val="108200"/>
              </a:lnSpc>
              <a:spcBef>
                <a:spcPts val="1200"/>
              </a:spcBef>
            </a:pP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Generate</a:t>
            </a:r>
            <a:r>
              <a:rPr dirty="0" sz="4100" spc="-114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10,000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random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samples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4100" spc="-114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words.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Sketch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resulting</a:t>
            </a:r>
            <a:r>
              <a:rPr dirty="0" sz="4100" spc="-114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distribution</a:t>
            </a:r>
            <a:r>
              <a:rPr dirty="0" sz="4100" spc="-11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Source Sans 3"/>
                <a:cs typeface="Source Sans 3"/>
              </a:rPr>
              <a:t>of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means,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remembering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carefully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label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horizontal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axis.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Were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20">
                <a:solidFill>
                  <a:srgbClr val="FFFFFF"/>
                </a:solidFill>
                <a:latin typeface="Source Sans 3"/>
                <a:cs typeface="Source Sans 3"/>
              </a:rPr>
              <a:t>your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predictions</a:t>
            </a:r>
            <a:r>
              <a:rPr dirty="0" sz="4100" spc="-9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about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how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increased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sample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size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would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impact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4100" spc="-8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shape,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center,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variability</a:t>
            </a:r>
            <a:r>
              <a:rPr dirty="0" sz="4100" spc="-8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accurate?</a:t>
            </a:r>
            <a:endParaRPr sz="4100">
              <a:latin typeface="Source Sans 3"/>
              <a:cs typeface="Source Sans 3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93075" y="143510"/>
            <a:ext cx="2825750" cy="6496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latin typeface="Source Sans 3 Semibold"/>
                <a:cs typeface="Source Sans 3 Semibold"/>
              </a:rPr>
              <a:t>EXERCISE</a:t>
            </a:r>
            <a:r>
              <a:rPr dirty="0" spc="-10" b="1">
                <a:latin typeface="Source Sans 3 Semibold"/>
                <a:cs typeface="Source Sans 3 Semibold"/>
              </a:rPr>
              <a:t> </a:t>
            </a:r>
            <a:r>
              <a:rPr dirty="0" spc="-25" b="1">
                <a:latin typeface="Source Sans 3 Semibold"/>
                <a:cs typeface="Source Sans 3 Semibold"/>
              </a:rPr>
              <a:t>25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249" y="636866"/>
            <a:ext cx="17727295" cy="4642485"/>
          </a:xfrm>
          <a:prstGeom prst="rect">
            <a:avLst/>
          </a:prstGeom>
        </p:spPr>
        <p:txBody>
          <a:bodyPr wrap="square" lIns="0" tIns="347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35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Using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what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have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seen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so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50">
                <a:solidFill>
                  <a:srgbClr val="FFFFFF"/>
                </a:solidFill>
                <a:latin typeface="Source Sans 3"/>
                <a:cs typeface="Source Sans 3"/>
              </a:rPr>
              <a:t>far,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which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is</a:t>
            </a:r>
            <a:r>
              <a:rPr dirty="0" sz="4100" spc="-5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least</a:t>
            </a:r>
            <a:r>
              <a:rPr dirty="0" sz="4100" spc="-6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likely:</a:t>
            </a:r>
            <a:endParaRPr sz="4100">
              <a:latin typeface="Source Sans 3"/>
              <a:cs typeface="Source Sans 3"/>
            </a:endParaRPr>
          </a:p>
          <a:p>
            <a:pPr marL="792480" indent="-377825">
              <a:lnSpc>
                <a:spcPct val="100000"/>
              </a:lnSpc>
              <a:spcBef>
                <a:spcPts val="2030"/>
              </a:spcBef>
              <a:buAutoNum type="arabicPeriod"/>
              <a:tabLst>
                <a:tab pos="792480" algn="l"/>
              </a:tabLst>
            </a:pP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Randomly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picking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one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word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from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Gettysburg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Address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finding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it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be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6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letters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or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Source Sans 3"/>
                <a:cs typeface="Source Sans 3"/>
              </a:rPr>
              <a:t>more.</a:t>
            </a:r>
            <a:endParaRPr sz="3150">
              <a:latin typeface="Source Sans 3"/>
              <a:cs typeface="Source Sans 3"/>
            </a:endParaRPr>
          </a:p>
          <a:p>
            <a:pPr marL="791845" marR="401955" indent="-377825">
              <a:lnSpc>
                <a:spcPct val="107100"/>
              </a:lnSpc>
              <a:spcBef>
                <a:spcPts val="75"/>
              </a:spcBef>
              <a:buAutoNum type="arabicPeriod"/>
              <a:tabLst>
                <a:tab pos="793115" algn="l"/>
              </a:tabLst>
            </a:pP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Randomly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picking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5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words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from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Gettysburg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Address</a:t>
            </a:r>
            <a:r>
              <a:rPr dirty="0" sz="3150" spc="-4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finding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mean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5</a:t>
            </a:r>
            <a:r>
              <a:rPr dirty="0" sz="3150" spc="-4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words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be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6 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	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letters</a:t>
            </a:r>
            <a:r>
              <a:rPr dirty="0" sz="315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or</a:t>
            </a:r>
            <a:r>
              <a:rPr dirty="0" sz="315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more</a:t>
            </a:r>
            <a:r>
              <a:rPr dirty="0" sz="315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315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Source Sans 3"/>
                <a:cs typeface="Source Sans 3"/>
              </a:rPr>
              <a:t>length.</a:t>
            </a:r>
            <a:endParaRPr sz="3150">
              <a:latin typeface="Source Sans 3"/>
              <a:cs typeface="Source Sans 3"/>
            </a:endParaRPr>
          </a:p>
          <a:p>
            <a:pPr marL="791845" marR="5080" indent="-377825">
              <a:lnSpc>
                <a:spcPct val="107100"/>
              </a:lnSpc>
              <a:spcBef>
                <a:spcPts val="75"/>
              </a:spcBef>
              <a:buAutoNum type="arabicPeriod"/>
              <a:tabLst>
                <a:tab pos="793115" algn="l"/>
              </a:tabLst>
            </a:pP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Randomly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picking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words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from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Gettysburg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Address</a:t>
            </a:r>
            <a:r>
              <a:rPr dirty="0" sz="3150" spc="-4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and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finding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mean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of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the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10</a:t>
            </a:r>
            <a:r>
              <a:rPr dirty="0" sz="3150" spc="-4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words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to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be</a:t>
            </a:r>
            <a:r>
              <a:rPr dirty="0" sz="3150" spc="-4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6 </a:t>
            </a:r>
            <a:r>
              <a:rPr dirty="0" sz="3150" spc="-50">
                <a:solidFill>
                  <a:srgbClr val="FFFFFF"/>
                </a:solidFill>
                <a:latin typeface="Source Sans 3"/>
                <a:cs typeface="Source Sans 3"/>
              </a:rPr>
              <a:t>	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letters</a:t>
            </a:r>
            <a:r>
              <a:rPr dirty="0" sz="315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or</a:t>
            </a:r>
            <a:r>
              <a:rPr dirty="0" sz="315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more</a:t>
            </a:r>
            <a:r>
              <a:rPr dirty="0" sz="315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>
                <a:solidFill>
                  <a:srgbClr val="FFFFFF"/>
                </a:solidFill>
                <a:latin typeface="Source Sans 3"/>
                <a:cs typeface="Source Sans 3"/>
              </a:rPr>
              <a:t>in</a:t>
            </a:r>
            <a:r>
              <a:rPr dirty="0" sz="315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Source Sans 3"/>
                <a:cs typeface="Source Sans 3"/>
              </a:rPr>
              <a:t>length.</a:t>
            </a:r>
            <a:endParaRPr sz="3150">
              <a:latin typeface="Source Sans 3"/>
              <a:cs typeface="Source Sans 3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Explain</a:t>
            </a:r>
            <a:r>
              <a:rPr dirty="0" sz="4100" spc="-70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>
                <a:solidFill>
                  <a:srgbClr val="FFFFFF"/>
                </a:solidFill>
                <a:latin typeface="Source Sans 3"/>
                <a:cs typeface="Source Sans 3"/>
              </a:rPr>
              <a:t>your</a:t>
            </a:r>
            <a:r>
              <a:rPr dirty="0" sz="4100" spc="-65">
                <a:solidFill>
                  <a:srgbClr val="FFFFFF"/>
                </a:solidFill>
                <a:latin typeface="Source Sans 3"/>
                <a:cs typeface="Source Sans 3"/>
              </a:rPr>
              <a:t> </a:t>
            </a:r>
            <a:r>
              <a:rPr dirty="0" sz="4100" spc="-10">
                <a:solidFill>
                  <a:srgbClr val="FFFFFF"/>
                </a:solidFill>
                <a:latin typeface="Source Sans 3"/>
                <a:cs typeface="Source Sans 3"/>
              </a:rPr>
              <a:t>reasoning.</a:t>
            </a:r>
            <a:endParaRPr sz="4100">
              <a:latin typeface="Source Sans 3"/>
              <a:cs typeface="Source Sans 3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73050" y="10140950"/>
            <a:ext cx="22542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175">
                <a:solidFill>
                  <a:srgbClr val="41AFFA"/>
                </a:solidFill>
                <a:latin typeface="Arial"/>
                <a:cs typeface="Arial"/>
              </a:rPr>
              <a:t>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1AFF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2023-09-07T20:23:06Z</dcterms:created>
  <dcterms:modified xsi:type="dcterms:W3CDTF">2023-09-07T20:23:06Z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2023-09-07T00:00:00Z</vt:filetime>
  </property>
  <property fmtid="{D5CDD505-2E9C-101B-9397-08002B2CF9AE}" pid="3" name="Creator">
    <vt:lpwstr>Mozilla/5.0 (Windows NT 10.0; Win64; x64) AppleWebKit/537.36 (KHTML, like Gecko) Chrome/116.0.0.0 Safari/537.36</vt:lpwstr>
  </property>
  <property fmtid="{D5CDD505-2E9C-101B-9397-08002B2CF9AE}" pid="4" name="LastSaved">
    <vt:filetime>2023-09-07T00:00:00Z</vt:filetime>
  </property>
  <property fmtid="{D5CDD505-2E9C-101B-9397-08002B2CF9AE}" pid="5" name="Producer">
    <vt:lpwstr>Skia/PDF m116</vt:lpwstr>
  </property>
</Properties>
</file>